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Greet the audience and welcome them to the HIVE MIND presentation.
- One-line project definition: Hive Mind is a multi-LLM chatbot that asks several AI models the same question at the same time.
- Read the tagline aloud: "One question. A hive of AIs. One smarter answer."
- Tease the story: it all started with buying a laptop — the next slide tells that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Tell the laptop anecdote as a personal experience — buying a first laptop on the advice of a single friend.
- Contrast the two panels: one advisor vs a council of four perspectives (performance, battery, value, long-term reliability).
- Stress verification and comparison — not majority rule — as what improves a decision.
- Land the punchlines: one opinion gives a perspective; multiple perspectives let you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Bridge from the anecdote to the thesis: the instinct to compare is human — now AI agents can play the council.
- Core idea: multi-model comparison — send the same question to several models and compare their answers.
- Be careful not to claim every model is always uniquely strong — strengths vary by task, no model wins at everything.
- Read the big statement slowly; it is the thesis of the whole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the four pains quickly: unverified answers, no built-in comparison, manual effort, single-model dependency.
- Dwell on pain 04 — workflow interruption: downtime and rate limits stop the whole workflow.
- Keep it brisk; the slide should communicate the problem in seconds.
- Set up the reveal: "Here is where Hive Mind comes in" — the solution is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Pause on this reveal — this is the flagship moment of the deck.
- Move 1: one question is sent to many AI models in parallel.
- Move 2: each response is shown separately, side by side.
- Move 3: the responses are combined into one synthesized verdict.
- Bridge: the next slide breaks down exactly how it works, step by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Walk the six steps briskly: Ask → Dispatch → Collect → Compare → Synthesize → Review — one line each, no deep dive.
• Emphasize parallelism at COLLECT: every selected model answers simultaneously, not one after another.
• The verdict is born at SYNTHESIZE — many separate responses become one consolidated answer.
• REVIEW keeps the human in control: the user inspects the combined result and every individual AI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Present the three usage patterns from lightest to heaviest: Single AI → Custom Mix → Full Council.
• Single AI covers quick responses and simple questions — the lightweight entry point.
• Full Council is the default showcase: every model at once, the richest side-by-side comparison.
• Custom Mix trades breadth for speed and cost control — pick only the models a task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Each selected model answers the same question in its own card — every AI gets a voice.
• Comparison happens at a glance: SSD/RAM focus vs battery/weight vs total-cost-of-ownership balance.
• The micro-actions (upvote, copy, expand) let users act on any single response.
• Be explicit: the responses shown are fictional illustrative samples, not actual model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verdict is a structured synthesis, not another chat bubble — walk the five elements in order.
• Agreements and Differences show convergence and divergence; Insights surface what comparison reveals.
• Recommendation states what the combined answer supports; Verification flags what still needs checking.
• Read the sample verdict aloud, then be honest: consensus between models is not proof — verification stays with the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Recap the value loop: one question in, many parallel perspectives back, one transparent verdict out — nothing to switch, everything to inspect.
- Tie back to the laptop example from slide 2: Hive Mind automates what the council of knowledgeable friends did manually.
- Stress resilience — a down or rate-limited model never stalls the workflow, the hive keeps answering.
- Land on the crimson card: comparison plus verification is what actually upgrades the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Cross-checking: agreement between AIs builds trust; disagreement is a signal to verify, not a flaw.
- Reliability: like redundant systems in production — one model failing or rate-limited never stalls the hive.
- Neutrality: a vendor's own assistant tends to favour its own model; the Hive has no favourite to protect.
- Industry practice: routing between and combining models for cost, speed and quality is an established real-world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Six concrete, buildable upgrades — walk them top to bottom.
- One small function per new model grows the council: ChatGPT, Claude and beyond.
- Paid API plans and caching together solve scale, speed and API cost.
- Accounts and history let users track how the Hive's answers evolve over time.
- Subject-specific councils route each field to its best-suited models; user votes feed back into Hive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Thank the audience for their time and attention.
- Restate the one-liner: one question, many AIs, one smarter answer.
- Invite questions and open the floor for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png"/><Relationship Id="rId25" Type="http://schemas.openxmlformats.org/officeDocument/2006/relationships/image" Target="../media/image-13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2143125" y="0"/>
            <a:ext cx="4857750" cy="48577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143125" y="0"/>
            <a:ext cx="4857750" cy="4857750"/>
          </a:xfrm>
          <a:prstGeom prst="roundRect">
            <a:avLst>
              <a:gd name="adj" fmla="val 1960588"/>
            </a:avLst>
          </a:prstGeom>
          <a:solidFill>
            <a:srgbClr val="C51F32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2896791" y="753666"/>
            <a:ext cx="3350419" cy="3350419"/>
          </a:xfrm>
          <a:prstGeom prst="roundRect">
            <a:avLst>
              <a:gd name="adj" fmla="val 2842644"/>
            </a:avLst>
          </a:prstGeom>
          <a:noFill/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2361009" y="217884"/>
            <a:ext cx="4421981" cy="4421981"/>
          </a:xfrm>
          <a:prstGeom prst="roundRect">
            <a:avLst>
              <a:gd name="adj" fmla="val 2153797"/>
            </a:avLst>
          </a:prstGeom>
          <a:noFill/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498" y="857501"/>
            <a:ext cx="3788622" cy="1505622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0965" y="515077"/>
            <a:ext cx="2434039" cy="1849948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1584" y="716292"/>
            <a:ext cx="863536" cy="1642991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8433" y="630634"/>
            <a:ext cx="864017" cy="1730836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7639" y="914888"/>
            <a:ext cx="2470757" cy="1447856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964" y="1535987"/>
            <a:ext cx="3785979" cy="825213"/>
          </a:xfrm>
          <a:prstGeom prst="rect">
            <a:avLst/>
          </a:prstGeom>
        </p:spPr>
      </p:pic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498" y="2358567"/>
            <a:ext cx="3736572" cy="1684482"/>
          </a:xfrm>
          <a:prstGeom prst="rect">
            <a:avLst/>
          </a:prstGeom>
        </p:spPr>
      </p:pic>
      <p:pic>
        <p:nvPicPr>
          <p:cNvPr id="1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11962" y="2358180"/>
            <a:ext cx="2066972" cy="2262663"/>
          </a:xfrm>
          <a:prstGeom prst="rect">
            <a:avLst/>
          </a:prstGeom>
        </p:spPr>
      </p:pic>
      <p:pic>
        <p:nvPicPr>
          <p:cNvPr id="1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26244" y="2361461"/>
            <a:ext cx="277843" cy="2414534"/>
          </a:xfrm>
          <a:prstGeom prst="rect">
            <a:avLst/>
          </a:prstGeom>
        </p:spPr>
      </p:pic>
      <p:pic>
        <p:nvPicPr>
          <p:cNvPr id="1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0322" y="2356148"/>
            <a:ext cx="1747540" cy="2178794"/>
          </a:xfrm>
          <a:prstGeom prst="rect">
            <a:avLst/>
          </a:prstGeom>
        </p:spPr>
      </p:pic>
      <p:pic>
        <p:nvPicPr>
          <p:cNvPr id="2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67219" y="2355784"/>
            <a:ext cx="3463922" cy="1694361"/>
          </a:xfrm>
          <a:prstGeom prst="rect">
            <a:avLst/>
          </a:prstGeom>
        </p:spPr>
      </p:pic>
      <p:pic>
        <p:nvPicPr>
          <p:cNvPr id="2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3335" y="2271714"/>
            <a:ext cx="2641971" cy="94775"/>
          </a:xfrm>
          <a:prstGeom prst="rect">
            <a:avLst/>
          </a:prstGeom>
        </p:spPr>
      </p:pic>
      <p:pic>
        <p:nvPicPr>
          <p:cNvPr id="2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71451" y="2357887"/>
            <a:ext cx="2803515" cy="163851"/>
          </a:xfrm>
          <a:prstGeom prst="rect">
            <a:avLst/>
          </a:prstGeom>
        </p:spPr>
      </p:pic>
      <p:pic>
        <p:nvPicPr>
          <p:cNvPr id="2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7231" y="778669"/>
            <a:ext cx="157163" cy="157163"/>
          </a:xfrm>
          <a:prstGeom prst="rect">
            <a:avLst/>
          </a:prstGeom>
        </p:spPr>
      </p:pic>
      <p:sp>
        <p:nvSpPr>
          <p:cNvPr id="24" name="Text 4"/>
          <p:cNvSpPr/>
          <p:nvPr/>
        </p:nvSpPr>
        <p:spPr>
          <a:xfrm>
            <a:off x="707231" y="778669"/>
            <a:ext cx="157163" cy="157163"/>
          </a:xfrm>
          <a:prstGeom prst="roundRect">
            <a:avLst>
              <a:gd name="adj" fmla="val 60599807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78831" y="450056"/>
            <a:ext cx="128588" cy="128588"/>
          </a:xfrm>
          <a:prstGeom prst="rect">
            <a:avLst/>
          </a:prstGeom>
        </p:spPr>
      </p:pic>
      <p:sp>
        <p:nvSpPr>
          <p:cNvPr id="26" name="Text 5"/>
          <p:cNvSpPr/>
          <p:nvPr/>
        </p:nvSpPr>
        <p:spPr>
          <a:xfrm>
            <a:off x="2078831" y="450056"/>
            <a:ext cx="128588" cy="128588"/>
          </a:xfrm>
          <a:prstGeom prst="roundRect">
            <a:avLst>
              <a:gd name="adj" fmla="val 74066379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43313" y="642938"/>
            <a:ext cx="142875" cy="142875"/>
          </a:xfrm>
          <a:prstGeom prst="rect">
            <a:avLst/>
          </a:prstGeom>
        </p:spPr>
      </p:pic>
      <p:sp>
        <p:nvSpPr>
          <p:cNvPr id="28" name="Text 6"/>
          <p:cNvSpPr/>
          <p:nvPr/>
        </p:nvSpPr>
        <p:spPr>
          <a:xfrm>
            <a:off x="3643313" y="642938"/>
            <a:ext cx="142875" cy="142875"/>
          </a:xfrm>
          <a:prstGeom prst="roundRect">
            <a:avLst>
              <a:gd name="adj" fmla="val 66660000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64956" y="564356"/>
            <a:ext cx="128588" cy="128588"/>
          </a:xfrm>
          <a:prstGeom prst="rect">
            <a:avLst/>
          </a:prstGeom>
        </p:spPr>
      </p:pic>
      <p:sp>
        <p:nvSpPr>
          <p:cNvPr id="30" name="Text 7"/>
          <p:cNvSpPr/>
          <p:nvPr/>
        </p:nvSpPr>
        <p:spPr>
          <a:xfrm>
            <a:off x="5364956" y="564356"/>
            <a:ext cx="128588" cy="128588"/>
          </a:xfrm>
          <a:prstGeom prst="roundRect">
            <a:avLst>
              <a:gd name="adj" fmla="val 74066379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50869" y="828675"/>
            <a:ext cx="171450" cy="171450"/>
          </a:xfrm>
          <a:prstGeom prst="rect">
            <a:avLst/>
          </a:prstGeom>
        </p:spPr>
      </p:pic>
      <p:sp>
        <p:nvSpPr>
          <p:cNvPr id="32" name="Text 8"/>
          <p:cNvSpPr/>
          <p:nvPr/>
        </p:nvSpPr>
        <p:spPr>
          <a:xfrm>
            <a:off x="6950869" y="828675"/>
            <a:ext cx="171450" cy="171450"/>
          </a:xfrm>
          <a:prstGeom prst="roundRect">
            <a:avLst>
              <a:gd name="adj" fmla="val 55550000"/>
            </a:avLst>
          </a:prstGeom>
          <a:solidFill>
            <a:srgbClr val="7557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79606" y="1457325"/>
            <a:ext cx="157163" cy="157163"/>
          </a:xfrm>
          <a:prstGeom prst="rect">
            <a:avLst/>
          </a:prstGeom>
        </p:spPr>
      </p:pic>
      <p:sp>
        <p:nvSpPr>
          <p:cNvPr id="34" name="Text 9"/>
          <p:cNvSpPr/>
          <p:nvPr/>
        </p:nvSpPr>
        <p:spPr>
          <a:xfrm>
            <a:off x="8279606" y="1457325"/>
            <a:ext cx="157163" cy="157163"/>
          </a:xfrm>
          <a:prstGeom prst="roundRect">
            <a:avLst>
              <a:gd name="adj" fmla="val 60599807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71525" y="3964781"/>
            <a:ext cx="142875" cy="142875"/>
          </a:xfrm>
          <a:prstGeom prst="rect">
            <a:avLst/>
          </a:prstGeom>
        </p:spPr>
      </p:pic>
      <p:sp>
        <p:nvSpPr>
          <p:cNvPr id="36" name="Text 10"/>
          <p:cNvSpPr/>
          <p:nvPr/>
        </p:nvSpPr>
        <p:spPr>
          <a:xfrm>
            <a:off x="771525" y="3964781"/>
            <a:ext cx="142875" cy="142875"/>
          </a:xfrm>
          <a:prstGeom prst="roundRect">
            <a:avLst>
              <a:gd name="adj" fmla="val 66660000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50306" y="4550569"/>
            <a:ext cx="128588" cy="128588"/>
          </a:xfrm>
          <a:prstGeom prst="rect">
            <a:avLst/>
          </a:prstGeom>
        </p:spPr>
      </p:pic>
      <p:sp>
        <p:nvSpPr>
          <p:cNvPr id="38" name="Text 11"/>
          <p:cNvSpPr/>
          <p:nvPr/>
        </p:nvSpPr>
        <p:spPr>
          <a:xfrm>
            <a:off x="2450306" y="4550569"/>
            <a:ext cx="128588" cy="128588"/>
          </a:xfrm>
          <a:prstGeom prst="roundRect">
            <a:avLst>
              <a:gd name="adj" fmla="val 74066379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29100" y="4700588"/>
            <a:ext cx="142875" cy="142875"/>
          </a:xfrm>
          <a:prstGeom prst="rect">
            <a:avLst/>
          </a:prstGeom>
        </p:spPr>
      </p:pic>
      <p:sp>
        <p:nvSpPr>
          <p:cNvPr id="40" name="Text 12"/>
          <p:cNvSpPr/>
          <p:nvPr/>
        </p:nvSpPr>
        <p:spPr>
          <a:xfrm>
            <a:off x="4229100" y="4700588"/>
            <a:ext cx="142875" cy="142875"/>
          </a:xfrm>
          <a:prstGeom prst="roundRect">
            <a:avLst>
              <a:gd name="adj" fmla="val 66660000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29350" y="4443413"/>
            <a:ext cx="171450" cy="171450"/>
          </a:xfrm>
          <a:prstGeom prst="rect">
            <a:avLst/>
          </a:prstGeom>
        </p:spPr>
      </p:pic>
      <p:sp>
        <p:nvSpPr>
          <p:cNvPr id="42" name="Text 13"/>
          <p:cNvSpPr/>
          <p:nvPr/>
        </p:nvSpPr>
        <p:spPr>
          <a:xfrm>
            <a:off x="6229350" y="4443413"/>
            <a:ext cx="171450" cy="171450"/>
          </a:xfrm>
          <a:prstGeom prst="roundRect">
            <a:avLst>
              <a:gd name="adj" fmla="val 55550000"/>
            </a:avLst>
          </a:prstGeom>
          <a:solidFill>
            <a:srgbClr val="7557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950994" y="3964781"/>
            <a:ext cx="157163" cy="157163"/>
          </a:xfrm>
          <a:prstGeom prst="rect">
            <a:avLst/>
          </a:prstGeom>
        </p:spPr>
      </p:pic>
      <p:sp>
        <p:nvSpPr>
          <p:cNvPr id="44" name="Text 14"/>
          <p:cNvSpPr/>
          <p:nvPr/>
        </p:nvSpPr>
        <p:spPr>
          <a:xfrm>
            <a:off x="7950994" y="3964781"/>
            <a:ext cx="157163" cy="157163"/>
          </a:xfrm>
          <a:prstGeom prst="roundRect">
            <a:avLst>
              <a:gd name="adj" fmla="val 60599807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5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158038" y="2214563"/>
            <a:ext cx="114300" cy="114300"/>
          </a:xfrm>
          <a:prstGeom prst="rect">
            <a:avLst/>
          </a:prstGeom>
        </p:spPr>
      </p:pic>
      <p:sp>
        <p:nvSpPr>
          <p:cNvPr id="46" name="Text 15"/>
          <p:cNvSpPr/>
          <p:nvPr/>
        </p:nvSpPr>
        <p:spPr>
          <a:xfrm>
            <a:off x="7158038" y="2214563"/>
            <a:ext cx="114300" cy="114300"/>
          </a:xfrm>
          <a:prstGeom prst="roundRect">
            <a:avLst>
              <a:gd name="adj" fmla="val 83325000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7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714500" y="2457450"/>
            <a:ext cx="114300" cy="114300"/>
          </a:xfrm>
          <a:prstGeom prst="rect">
            <a:avLst/>
          </a:prstGeom>
        </p:spPr>
      </p:pic>
      <p:sp>
        <p:nvSpPr>
          <p:cNvPr id="48" name="Text 16"/>
          <p:cNvSpPr/>
          <p:nvPr/>
        </p:nvSpPr>
        <p:spPr>
          <a:xfrm>
            <a:off x="1714500" y="2457450"/>
            <a:ext cx="114300" cy="114300"/>
          </a:xfrm>
          <a:prstGeom prst="roundRect">
            <a:avLst>
              <a:gd name="adj" fmla="val 83325000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17"/>
          <p:cNvSpPr/>
          <p:nvPr/>
        </p:nvSpPr>
        <p:spPr>
          <a:xfrm>
            <a:off x="2500201" y="403622"/>
            <a:ext cx="4143487" cy="210741"/>
          </a:xfrm>
          <a:prstGeom prst="roundRect">
            <a:avLst>
              <a:gd name="adj" fmla="val 45193140"/>
            </a:avLst>
          </a:prstGeom>
          <a:solidFill>
            <a:srgbClr val="C51F32">
              <a:alpha val="8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0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603785" y="483989"/>
            <a:ext cx="50006" cy="50006"/>
          </a:xfrm>
          <a:prstGeom prst="rect">
            <a:avLst/>
          </a:prstGeom>
        </p:spPr>
      </p:pic>
      <p:sp>
        <p:nvSpPr>
          <p:cNvPr id="51" name="Text 18"/>
          <p:cNvSpPr/>
          <p:nvPr/>
        </p:nvSpPr>
        <p:spPr>
          <a:xfrm>
            <a:off x="2603785" y="483989"/>
            <a:ext cx="50006" cy="50006"/>
          </a:xfrm>
          <a:prstGeom prst="roundRect">
            <a:avLst>
              <a:gd name="adj" fmla="val 190458095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19"/>
          <p:cNvSpPr/>
          <p:nvPr/>
        </p:nvSpPr>
        <p:spPr>
          <a:xfrm>
            <a:off x="2710942" y="450056"/>
            <a:ext cx="3829162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136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MULTI-LLM AI CHATBOT • COLLABORATIVE ARTIFICIAL INTELLIGENCE</a:t>
            </a:r>
            <a:endParaRPr lang="en-US" sz="619" dirty="0"/>
          </a:p>
        </p:txBody>
      </p:sp>
      <p:sp>
        <p:nvSpPr>
          <p:cNvPr id="53" name="Text 20"/>
          <p:cNvSpPr/>
          <p:nvPr/>
        </p:nvSpPr>
        <p:spPr>
          <a:xfrm>
            <a:off x="1962243" y="1837953"/>
            <a:ext cx="3001268" cy="745245"/>
          </a:xfrm>
          <a:prstGeom prst="rect">
            <a:avLst/>
          </a:prstGeom>
          <a:noFill/>
          <a:ln/>
          <a:effectLst>
            <a:outerShdw sx="100000" sy="100000" kx="0" ky="0" algn="bl" rotWithShape="0" blurRad="342900" dist="50800" dir="16200000">
              <a:srgbClr val="F1F1F5">
                <a:alpha val="3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ctr" indent="0" marL="0">
              <a:lnSpc>
                <a:spcPts val="5434"/>
              </a:lnSpc>
              <a:buNone/>
            </a:pPr>
            <a:r>
              <a:rPr lang="en-US" sz="5175" b="1" spc="673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HIVE</a:t>
            </a:r>
            <a:endParaRPr lang="en-US" sz="5175" dirty="0"/>
          </a:p>
        </p:txBody>
      </p:sp>
      <p:sp>
        <p:nvSpPr>
          <p:cNvPr id="54" name="Text 21"/>
          <p:cNvSpPr/>
          <p:nvPr/>
        </p:nvSpPr>
        <p:spPr>
          <a:xfrm>
            <a:off x="3991559" y="1837953"/>
            <a:ext cx="3233797" cy="745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34"/>
              </a:lnSpc>
              <a:buNone/>
            </a:pPr>
            <a:r>
              <a:rPr lang="en-US" sz="5175" b="1" spc="673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MIND</a:t>
            </a:r>
            <a:endParaRPr lang="en-US" sz="5175" dirty="0"/>
          </a:p>
        </p:txBody>
      </p:sp>
      <p:pic>
        <p:nvPicPr>
          <p:cNvPr id="55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36219" y="2728020"/>
            <a:ext cx="1071563" cy="7144"/>
          </a:xfrm>
          <a:prstGeom prst="rect">
            <a:avLst/>
          </a:prstGeom>
        </p:spPr>
      </p:pic>
      <p:sp>
        <p:nvSpPr>
          <p:cNvPr id="56" name="Text 22"/>
          <p:cNvSpPr/>
          <p:nvPr/>
        </p:nvSpPr>
        <p:spPr>
          <a:xfrm>
            <a:off x="2763743" y="2906613"/>
            <a:ext cx="3616403" cy="21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069" spc="64" kern="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question. A hive of AIs. One smarter answer.</a:t>
            </a:r>
            <a:endParaRPr lang="en-US" sz="1069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34340" y="330098"/>
            <a:ext cx="1783660" cy="243488"/>
          </a:xfrm>
          <a:prstGeom prst="roundRect">
            <a:avLst>
              <a:gd name="adj" fmla="val 39115059"/>
            </a:avLst>
          </a:prstGeom>
          <a:solidFill>
            <a:srgbClr val="C51F32">
              <a:alpha val="8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56" y="426839"/>
            <a:ext cx="50006" cy="50006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64356" y="426839"/>
            <a:ext cx="50006" cy="50006"/>
          </a:xfrm>
          <a:prstGeom prst="roundRect">
            <a:avLst>
              <a:gd name="adj" fmla="val 190458095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671513" y="392906"/>
            <a:ext cx="141647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QUESTION WE ALL FACE</a:t>
            </a:r>
            <a:endParaRPr lang="en-US" sz="800" dirty="0"/>
          </a:p>
        </p:txBody>
      </p:sp>
      <p:sp>
        <p:nvSpPr>
          <p:cNvPr id="10" name="Text 4"/>
          <p:cNvSpPr/>
          <p:nvPr/>
        </p:nvSpPr>
        <p:spPr>
          <a:xfrm>
            <a:off x="457200" y="689372"/>
            <a:ext cx="8636000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813" b="1" spc="-28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Would You Trust Just One Opinion?</a:t>
            </a:r>
            <a:endParaRPr lang="en-US" sz="2813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321594"/>
            <a:ext cx="64294" cy="6429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57200" y="1321594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F1F1F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6"/>
          <p:cNvSpPr/>
          <p:nvPr/>
        </p:nvSpPr>
        <p:spPr>
          <a:xfrm>
            <a:off x="592931" y="1289447"/>
            <a:ext cx="36897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F1F1F5">
                    <a:alpha val="3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PERSPECTIVE</a:t>
            </a:r>
            <a:endParaRPr lang="en-US" sz="8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9889" y="1593056"/>
            <a:ext cx="800100" cy="8001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969889" y="1593056"/>
            <a:ext cx="800100" cy="800100"/>
          </a:xfrm>
          <a:prstGeom prst="roundRect">
            <a:avLst>
              <a:gd name="adj" fmla="val 11903571"/>
            </a:avLst>
          </a:prstGeom>
          <a:solidFill>
            <a:srgbClr val="F1F1F5">
              <a:alpha val="12000"/>
            </a:srgbClr>
          </a:solidFill>
          <a:ln/>
          <a:effectLst>
            <a:outerShdw sx="100000" sy="100000" kx="0" ky="0" algn="bl" rotWithShape="0" blurRad="571500" dist="50800" dir="16200000">
              <a:srgbClr val="F1F1F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8"/>
          <p:cNvSpPr/>
          <p:nvPr/>
        </p:nvSpPr>
        <p:spPr>
          <a:xfrm>
            <a:off x="1788840" y="2493169"/>
            <a:ext cx="12782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knowledgeable friend</a:t>
            </a:r>
            <a:endParaRPr lang="en-US" sz="788" dirty="0"/>
          </a:p>
        </p:txBody>
      </p:sp>
      <p:sp>
        <p:nvSpPr>
          <p:cNvPr id="17" name="Text 9"/>
          <p:cNvSpPr/>
          <p:nvPr/>
        </p:nvSpPr>
        <p:spPr>
          <a:xfrm>
            <a:off x="457200" y="2832497"/>
            <a:ext cx="3825478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Char char="•"/>
            </a:pPr>
            <a:r>
              <a:rPr lang="en-US" sz="90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 are buying your first laptop — one knowledgeable friend recommends it.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Char char="•"/>
            </a:pPr>
            <a:r>
              <a:rPr lang="en-US" sz="90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Convincing reasons, real enthusiasm — easy to trust.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Char char="•"/>
            </a:pPr>
            <a:r>
              <a:rPr lang="en-US" sz="90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But: limited experience, an overlooked specification, a preferred brand.</a:t>
            </a:r>
            <a:endParaRPr lang="en-US" sz="9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313039"/>
            <a:ext cx="3825478" cy="714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57200" y="4405908"/>
            <a:ext cx="4131516" cy="19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spc="37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opinion gives you a perspective.</a:t>
            </a:r>
            <a:endParaRPr lang="en-US" sz="928" dirty="0"/>
          </a:p>
        </p:txBody>
      </p:sp>
      <p:sp>
        <p:nvSpPr>
          <p:cNvPr id="20" name="Text 11"/>
          <p:cNvSpPr/>
          <p:nvPr/>
        </p:nvSpPr>
        <p:spPr>
          <a:xfrm>
            <a:off x="4568428" y="1289447"/>
            <a:ext cx="7144" cy="3293269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1322" y="1321594"/>
            <a:ext cx="64294" cy="6429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4861322" y="1321594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3"/>
          <p:cNvSpPr/>
          <p:nvPr/>
        </p:nvSpPr>
        <p:spPr>
          <a:xfrm>
            <a:off x="4997053" y="1289447"/>
            <a:ext cx="36897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F1F1F5">
                    <a:alpha val="3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MANY PERSPECTIVES</a:t>
            </a:r>
            <a:endParaRPr lang="en-US" sz="800" dirty="0"/>
          </a:p>
        </p:txBody>
      </p:sp>
      <p:sp>
        <p:nvSpPr>
          <p:cNvPr id="24" name="Text 14"/>
          <p:cNvSpPr/>
          <p:nvPr/>
        </p:nvSpPr>
        <p:spPr>
          <a:xfrm>
            <a:off x="6081117" y="2082403"/>
            <a:ext cx="1385888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5"/>
          <p:cNvSpPr/>
          <p:nvPr/>
        </p:nvSpPr>
        <p:spPr>
          <a:xfrm>
            <a:off x="6766917" y="1825228"/>
            <a:ext cx="7144" cy="514350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9698" y="1746647"/>
            <a:ext cx="157163" cy="157163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159698" y="1746647"/>
            <a:ext cx="157163" cy="157163"/>
          </a:xfrm>
          <a:prstGeom prst="roundRect">
            <a:avLst>
              <a:gd name="adj" fmla="val 60599807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1261" y="1746647"/>
            <a:ext cx="157163" cy="157163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7231261" y="1746647"/>
            <a:ext cx="157163" cy="157163"/>
          </a:xfrm>
          <a:prstGeom prst="roundRect">
            <a:avLst>
              <a:gd name="adj" fmla="val 60599807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59698" y="2260997"/>
            <a:ext cx="157163" cy="157163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6159698" y="2260997"/>
            <a:ext cx="157163" cy="157163"/>
          </a:xfrm>
          <a:prstGeom prst="roundRect">
            <a:avLst>
              <a:gd name="adj" fmla="val 60599807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1261" y="2260997"/>
            <a:ext cx="157163" cy="157163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7231261" y="2260997"/>
            <a:ext cx="157163" cy="157163"/>
          </a:xfrm>
          <a:prstGeom prst="roundRect">
            <a:avLst>
              <a:gd name="adj" fmla="val 60599807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0"/>
          <p:cNvSpPr/>
          <p:nvPr/>
        </p:nvSpPr>
        <p:spPr>
          <a:xfrm>
            <a:off x="5694069" y="1953816"/>
            <a:ext cx="10884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35" name="Text 21"/>
          <p:cNvSpPr/>
          <p:nvPr/>
        </p:nvSpPr>
        <p:spPr>
          <a:xfrm>
            <a:off x="6765631" y="1953816"/>
            <a:ext cx="10884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Battery life</a:t>
            </a:r>
            <a:endParaRPr lang="en-US" sz="800" dirty="0"/>
          </a:p>
        </p:txBody>
      </p:sp>
      <p:sp>
        <p:nvSpPr>
          <p:cNvPr id="36" name="Text 22"/>
          <p:cNvSpPr/>
          <p:nvPr/>
        </p:nvSpPr>
        <p:spPr>
          <a:xfrm>
            <a:off x="5694069" y="2468166"/>
            <a:ext cx="10884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Value for money</a:t>
            </a:r>
            <a:endParaRPr lang="en-US" sz="800" dirty="0"/>
          </a:p>
        </p:txBody>
      </p:sp>
      <p:sp>
        <p:nvSpPr>
          <p:cNvPr id="37" name="Text 23"/>
          <p:cNvSpPr/>
          <p:nvPr/>
        </p:nvSpPr>
        <p:spPr>
          <a:xfrm>
            <a:off x="6765631" y="2468166"/>
            <a:ext cx="10884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Long-term reliability</a:t>
            </a:r>
            <a:endParaRPr lang="en-US" sz="619" dirty="0"/>
          </a:p>
        </p:txBody>
      </p:sp>
      <p:sp>
        <p:nvSpPr>
          <p:cNvPr id="38" name="Text 24"/>
          <p:cNvSpPr/>
          <p:nvPr/>
        </p:nvSpPr>
        <p:spPr>
          <a:xfrm>
            <a:off x="4861322" y="2832497"/>
            <a:ext cx="3825478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Char char="•"/>
            </a:pPr>
            <a:r>
              <a:rPr lang="en-US" sz="90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Now ask three or four knowledgeable people instead.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Char char="•"/>
            </a:pPr>
            <a:r>
              <a:rPr lang="en-US" sz="90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checks performance, another battery life, another value, another reliability.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Char char="•"/>
            </a:pPr>
            <a:r>
              <a:rPr lang="en-US" sz="90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 views · find common conclusions · investigate disagreements.</a:t>
            </a:r>
            <a:endParaRPr lang="en-US" sz="900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61322" y="4313039"/>
            <a:ext cx="3825478" cy="7144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4861322" y="4405908"/>
            <a:ext cx="4131516" cy="19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spc="37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Multiple perspectives help you compare.</a:t>
            </a:r>
            <a:endParaRPr lang="en-US" sz="928" dirty="0"/>
          </a:p>
        </p:txBody>
      </p:sp>
      <p:sp>
        <p:nvSpPr>
          <p:cNvPr id="41" name="Text 26"/>
          <p:cNvSpPr/>
          <p:nvPr/>
        </p:nvSpPr>
        <p:spPr>
          <a:xfrm>
            <a:off x="457200" y="4823817"/>
            <a:ext cx="2850245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27"/>
          <p:cNvSpPr/>
          <p:nvPr/>
        </p:nvSpPr>
        <p:spPr>
          <a:xfrm>
            <a:off x="3450320" y="4768453"/>
            <a:ext cx="25430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74" kern="0" dirty="0">
                <a:solidFill>
                  <a:srgbClr val="F1F1F5">
                    <a:alpha val="3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Comparison — not majority — improves a decision.</a:t>
            </a:r>
            <a:endParaRPr lang="en-US" sz="619" dirty="0"/>
          </a:p>
        </p:txBody>
      </p:sp>
      <p:sp>
        <p:nvSpPr>
          <p:cNvPr id="43" name="Text 28"/>
          <p:cNvSpPr/>
          <p:nvPr/>
        </p:nvSpPr>
        <p:spPr>
          <a:xfrm>
            <a:off x="5836444" y="4823817"/>
            <a:ext cx="2850356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006" y="692944"/>
            <a:ext cx="328613" cy="328613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051006" y="692944"/>
            <a:ext cx="328613" cy="328613"/>
          </a:xfrm>
          <a:prstGeom prst="roundRect">
            <a:avLst>
              <a:gd name="adj" fmla="val 28982565"/>
            </a:avLst>
          </a:prstGeom>
          <a:solidFill>
            <a:srgbClr val="F1F1F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2"/>
          <p:cNvSpPr/>
          <p:nvPr/>
        </p:nvSpPr>
        <p:spPr>
          <a:xfrm>
            <a:off x="7786688" y="857250"/>
            <a:ext cx="371475" cy="7144"/>
          </a:xfrm>
          <a:prstGeom prst="rect">
            <a:avLst/>
          </a:prstGeom>
          <a:solidFill>
            <a:srgbClr val="F1F1F5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0969" y="1321594"/>
            <a:ext cx="71438" cy="71438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7750969" y="1321594"/>
            <a:ext cx="71438" cy="71438"/>
          </a:xfrm>
          <a:prstGeom prst="roundRect">
            <a:avLst>
              <a:gd name="adj" fmla="val 133319067"/>
            </a:avLst>
          </a:prstGeom>
          <a:solidFill>
            <a:srgbClr val="F1F1F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4"/>
          <p:cNvSpPr/>
          <p:nvPr/>
        </p:nvSpPr>
        <p:spPr>
          <a:xfrm>
            <a:off x="434340" y="330098"/>
            <a:ext cx="1486190" cy="243488"/>
          </a:xfrm>
          <a:prstGeom prst="roundRect">
            <a:avLst>
              <a:gd name="adj" fmla="val 39115059"/>
            </a:avLst>
          </a:prstGeom>
          <a:solidFill>
            <a:srgbClr val="C51F32">
              <a:alpha val="8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356" y="426839"/>
            <a:ext cx="50006" cy="50006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64356" y="426839"/>
            <a:ext cx="50006" cy="50006"/>
          </a:xfrm>
          <a:prstGeom prst="roundRect">
            <a:avLst>
              <a:gd name="adj" fmla="val 190458095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6"/>
          <p:cNvSpPr/>
          <p:nvPr/>
        </p:nvSpPr>
        <p:spPr>
          <a:xfrm>
            <a:off x="671513" y="392906"/>
            <a:ext cx="111900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HUMANS TO AI</a:t>
            </a:r>
            <a:endParaRPr lang="en-US" sz="800" dirty="0"/>
          </a:p>
        </p:txBody>
      </p:sp>
      <p:sp>
        <p:nvSpPr>
          <p:cNvPr id="15" name="Text 7"/>
          <p:cNvSpPr/>
          <p:nvPr/>
        </p:nvSpPr>
        <p:spPr>
          <a:xfrm>
            <a:off x="457200" y="689372"/>
            <a:ext cx="8636000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813" b="1" spc="-28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If AI Worked the Same Way?</a:t>
            </a:r>
            <a:endParaRPr lang="en-US" sz="2813" dirty="0"/>
          </a:p>
        </p:txBody>
      </p:sp>
      <p:sp>
        <p:nvSpPr>
          <p:cNvPr id="16" name="Text 8"/>
          <p:cNvSpPr/>
          <p:nvPr/>
        </p:nvSpPr>
        <p:spPr>
          <a:xfrm>
            <a:off x="1703784" y="1761827"/>
            <a:ext cx="1921669" cy="1060847"/>
          </a:xfrm>
          <a:prstGeom prst="roundRect">
            <a:avLst>
              <a:gd name="adj" fmla="val 12570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4519" y="1945779"/>
            <a:ext cx="64294" cy="6429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864519" y="1945779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F1F1F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0"/>
          <p:cNvSpPr/>
          <p:nvPr/>
        </p:nvSpPr>
        <p:spPr>
          <a:xfrm>
            <a:off x="2000250" y="1908274"/>
            <a:ext cx="14644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HUMAN COUNCIL</a:t>
            </a:r>
            <a:endParaRPr lang="en-US" sz="800" dirty="0"/>
          </a:p>
        </p:txBody>
      </p:sp>
      <p:sp>
        <p:nvSpPr>
          <p:cNvPr id="20" name="Text 11"/>
          <p:cNvSpPr/>
          <p:nvPr/>
        </p:nvSpPr>
        <p:spPr>
          <a:xfrm>
            <a:off x="1864519" y="2149076"/>
            <a:ext cx="771525" cy="254203"/>
          </a:xfrm>
          <a:prstGeom prst="roundRect">
            <a:avLst>
              <a:gd name="adj" fmla="val 37466306"/>
            </a:avLst>
          </a:prstGeom>
          <a:noFill/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2"/>
          <p:cNvSpPr/>
          <p:nvPr/>
        </p:nvSpPr>
        <p:spPr>
          <a:xfrm>
            <a:off x="1864519" y="2161877"/>
            <a:ext cx="837876" cy="292608"/>
          </a:xfrm>
          <a:prstGeom prst="rect">
            <a:avLst/>
          </a:prstGeom>
          <a:noFill/>
          <a:ln/>
        </p:spPr>
        <p:txBody>
          <a:bodyPr wrap="none" lIns="0" tIns="42863" rIns="0" bIns="42863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22" name="Text 13"/>
          <p:cNvSpPr/>
          <p:nvPr/>
        </p:nvSpPr>
        <p:spPr>
          <a:xfrm>
            <a:off x="2693194" y="2149076"/>
            <a:ext cx="771525" cy="254203"/>
          </a:xfrm>
          <a:prstGeom prst="roundRect">
            <a:avLst>
              <a:gd name="adj" fmla="val 37466306"/>
            </a:avLst>
          </a:prstGeom>
          <a:noFill/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4"/>
          <p:cNvSpPr/>
          <p:nvPr/>
        </p:nvSpPr>
        <p:spPr>
          <a:xfrm>
            <a:off x="2477167" y="2161877"/>
            <a:ext cx="987552" cy="292608"/>
          </a:xfrm>
          <a:prstGeom prst="rect">
            <a:avLst/>
          </a:prstGeom>
          <a:noFill/>
          <a:ln/>
        </p:spPr>
        <p:txBody>
          <a:bodyPr wrap="none" lIns="0" tIns="42863" rIns="0" bIns="42863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Battery</a:t>
            </a:r>
            <a:endParaRPr lang="en-US" sz="800" dirty="0"/>
          </a:p>
        </p:txBody>
      </p:sp>
      <p:sp>
        <p:nvSpPr>
          <p:cNvPr id="24" name="Text 15"/>
          <p:cNvSpPr/>
          <p:nvPr/>
        </p:nvSpPr>
        <p:spPr>
          <a:xfrm>
            <a:off x="1864519" y="2434826"/>
            <a:ext cx="771525" cy="254203"/>
          </a:xfrm>
          <a:prstGeom prst="roundRect">
            <a:avLst>
              <a:gd name="adj" fmla="val 37466306"/>
            </a:avLst>
          </a:prstGeom>
          <a:noFill/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6"/>
          <p:cNvSpPr/>
          <p:nvPr/>
        </p:nvSpPr>
        <p:spPr>
          <a:xfrm>
            <a:off x="1864519" y="2447627"/>
            <a:ext cx="995267" cy="228600"/>
          </a:xfrm>
          <a:prstGeom prst="rect">
            <a:avLst/>
          </a:prstGeom>
          <a:noFill/>
          <a:ln/>
        </p:spPr>
        <p:txBody>
          <a:bodyPr wrap="none" lIns="0" tIns="42863" rIns="0" bIns="42863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Value</a:t>
            </a:r>
            <a:endParaRPr lang="en-US" sz="800" dirty="0"/>
          </a:p>
        </p:txBody>
      </p:sp>
      <p:sp>
        <p:nvSpPr>
          <p:cNvPr id="26" name="Text 17"/>
          <p:cNvSpPr/>
          <p:nvPr/>
        </p:nvSpPr>
        <p:spPr>
          <a:xfrm>
            <a:off x="2693194" y="2434826"/>
            <a:ext cx="771525" cy="254203"/>
          </a:xfrm>
          <a:prstGeom prst="roundRect">
            <a:avLst>
              <a:gd name="adj" fmla="val 37466306"/>
            </a:avLst>
          </a:prstGeom>
          <a:noFill/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18"/>
          <p:cNvSpPr/>
          <p:nvPr/>
        </p:nvSpPr>
        <p:spPr>
          <a:xfrm>
            <a:off x="2560491" y="2447627"/>
            <a:ext cx="904227" cy="228600"/>
          </a:xfrm>
          <a:prstGeom prst="rect">
            <a:avLst/>
          </a:prstGeom>
          <a:noFill/>
          <a:ln/>
        </p:spPr>
        <p:txBody>
          <a:bodyPr wrap="none" lIns="0" tIns="42863" rIns="0" bIns="42863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28" name="Text 19"/>
          <p:cNvSpPr/>
          <p:nvPr/>
        </p:nvSpPr>
        <p:spPr>
          <a:xfrm>
            <a:off x="4013002" y="2060079"/>
            <a:ext cx="546497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i="1" spc="37" kern="0" dirty="0">
                <a:solidFill>
                  <a:srgbClr val="F1F1F5">
                    <a:alpha val="3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same instinct,</a:t>
            </a:r>
            <a:endParaRPr lang="en-US" sz="800" dirty="0"/>
          </a:p>
          <a:p>
            <a:pPr algn="ctr" indent="0" marL="0">
              <a:lnSpc>
                <a:spcPts val="928"/>
              </a:lnSpc>
              <a:buNone/>
            </a:pPr>
            <a:r>
              <a:rPr lang="en-US" sz="800" i="1" spc="37" kern="0" dirty="0">
                <a:solidFill>
                  <a:srgbClr val="F1F1F5">
                    <a:alpha val="3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agents</a:t>
            </a:r>
            <a:endParaRPr lang="en-US" sz="8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9038" y="2431554"/>
            <a:ext cx="1114425" cy="714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193381" y="233868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88" dirty="0"/>
          </a:p>
        </p:txBody>
      </p:sp>
      <p:sp>
        <p:nvSpPr>
          <p:cNvPr id="31" name="Text 21"/>
          <p:cNvSpPr/>
          <p:nvPr/>
        </p:nvSpPr>
        <p:spPr>
          <a:xfrm>
            <a:off x="4947047" y="1926134"/>
            <a:ext cx="1064419" cy="732234"/>
          </a:xfrm>
          <a:prstGeom prst="roundRect">
            <a:avLst>
              <a:gd name="adj" fmla="val 18211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2"/>
          <p:cNvSpPr/>
          <p:nvPr/>
        </p:nvSpPr>
        <p:spPr>
          <a:xfrm>
            <a:off x="5407819" y="205829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406" dirty="0"/>
          </a:p>
        </p:txBody>
      </p:sp>
      <p:sp>
        <p:nvSpPr>
          <p:cNvPr id="33" name="Text 23"/>
          <p:cNvSpPr/>
          <p:nvPr/>
        </p:nvSpPr>
        <p:spPr>
          <a:xfrm>
            <a:off x="5050631" y="2258318"/>
            <a:ext cx="857250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spc="113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QUESTION</a:t>
            </a:r>
            <a:endParaRPr lang="en-US" sz="8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5038" y="1774329"/>
            <a:ext cx="400050" cy="7144"/>
          </a:xfrm>
          <a:prstGeom prst="rect">
            <a:avLst/>
          </a:prstGeom>
        </p:spPr>
      </p:pic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5088" y="1685032"/>
            <a:ext cx="185738" cy="18573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415088" y="1685032"/>
            <a:ext cx="185738" cy="185738"/>
          </a:xfrm>
          <a:prstGeom prst="roundRect">
            <a:avLst>
              <a:gd name="adj" fmla="val 51276785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5038" y="2288679"/>
            <a:ext cx="400050" cy="7144"/>
          </a:xfrm>
          <a:prstGeom prst="rect">
            <a:avLst/>
          </a:prstGeom>
        </p:spPr>
      </p:pic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5088" y="2199382"/>
            <a:ext cx="185738" cy="18573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6415088" y="2199382"/>
            <a:ext cx="185738" cy="185738"/>
          </a:xfrm>
          <a:prstGeom prst="roundRect">
            <a:avLst>
              <a:gd name="adj" fmla="val 51276785"/>
            </a:avLst>
          </a:prstGeom>
          <a:solidFill>
            <a:srgbClr val="7557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15038" y="2803029"/>
            <a:ext cx="400050" cy="7144"/>
          </a:xfrm>
          <a:prstGeom prst="rect">
            <a:avLst/>
          </a:prstGeom>
        </p:spPr>
      </p:pic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5088" y="2713732"/>
            <a:ext cx="185738" cy="185738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6415088" y="2713732"/>
            <a:ext cx="185738" cy="185738"/>
          </a:xfrm>
          <a:prstGeom prst="roundRect">
            <a:avLst>
              <a:gd name="adj" fmla="val 51276785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27"/>
          <p:cNvSpPr/>
          <p:nvPr/>
        </p:nvSpPr>
        <p:spPr>
          <a:xfrm>
            <a:off x="1750219" y="3159323"/>
            <a:ext cx="35719" cy="35719"/>
          </a:xfrm>
          <a:prstGeom prst="roundRect">
            <a:avLst>
              <a:gd name="adj" fmla="val 266638134"/>
            </a:avLst>
          </a:prstGeom>
          <a:solidFill>
            <a:srgbClr val="FF354D"/>
          </a:solidFill>
          <a:ln/>
          <a:effectLst>
            <a:outerShdw sx="100000" sy="100000" kx="0" ky="0" algn="bl" rotWithShape="0" blurRad="76200" dist="50800" dir="16200000">
              <a:srgbClr val="FF354D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28"/>
          <p:cNvSpPr/>
          <p:nvPr/>
        </p:nvSpPr>
        <p:spPr>
          <a:xfrm>
            <a:off x="1871663" y="3099495"/>
            <a:ext cx="5522119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Different models interpret the same question differently.</a:t>
            </a:r>
            <a:endParaRPr lang="en-US" sz="816" dirty="0"/>
          </a:p>
        </p:txBody>
      </p:sp>
      <p:sp>
        <p:nvSpPr>
          <p:cNvPr id="45" name="Text 29"/>
          <p:cNvSpPr/>
          <p:nvPr/>
        </p:nvSpPr>
        <p:spPr>
          <a:xfrm>
            <a:off x="1750219" y="3386138"/>
            <a:ext cx="35719" cy="35719"/>
          </a:xfrm>
          <a:prstGeom prst="roundRect">
            <a:avLst>
              <a:gd name="adj" fmla="val 266638134"/>
            </a:avLst>
          </a:prstGeom>
          <a:solidFill>
            <a:srgbClr val="FF354D"/>
          </a:solidFill>
          <a:ln/>
          <a:effectLst>
            <a:outerShdw sx="100000" sy="100000" kx="0" ky="0" algn="bl" rotWithShape="0" blurRad="76200" dist="50800" dir="16200000">
              <a:srgbClr val="FF354D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0"/>
          <p:cNvSpPr/>
          <p:nvPr/>
        </p:nvSpPr>
        <p:spPr>
          <a:xfrm>
            <a:off x="1871663" y="3326309"/>
            <a:ext cx="5522119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reasons deeply, another explains clearly, another spots what others missed.</a:t>
            </a:r>
            <a:endParaRPr lang="en-US" sz="816" dirty="0"/>
          </a:p>
        </p:txBody>
      </p:sp>
      <p:sp>
        <p:nvSpPr>
          <p:cNvPr id="47" name="Text 31"/>
          <p:cNvSpPr/>
          <p:nvPr/>
        </p:nvSpPr>
        <p:spPr>
          <a:xfrm>
            <a:off x="1750219" y="3612952"/>
            <a:ext cx="35719" cy="35719"/>
          </a:xfrm>
          <a:prstGeom prst="roundRect">
            <a:avLst>
              <a:gd name="adj" fmla="val 266638134"/>
            </a:avLst>
          </a:prstGeom>
          <a:solidFill>
            <a:srgbClr val="FF354D"/>
          </a:solidFill>
          <a:ln/>
          <a:effectLst>
            <a:outerShdw sx="100000" sy="100000" kx="0" ky="0" algn="bl" rotWithShape="0" blurRad="76200" dist="50800" dir="16200000">
              <a:srgbClr val="FF354D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32"/>
          <p:cNvSpPr/>
          <p:nvPr/>
        </p:nvSpPr>
        <p:spPr>
          <a:xfrm>
            <a:off x="1871663" y="3553123"/>
            <a:ext cx="5522119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single AI can sound convincing — and still be wrong.</a:t>
            </a:r>
            <a:endParaRPr lang="en-US" sz="816" dirty="0"/>
          </a:p>
        </p:txBody>
      </p:sp>
      <p:sp>
        <p:nvSpPr>
          <p:cNvPr id="49" name="Text 33"/>
          <p:cNvSpPr/>
          <p:nvPr/>
        </p:nvSpPr>
        <p:spPr>
          <a:xfrm>
            <a:off x="457200" y="3908524"/>
            <a:ext cx="8229600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688" spc="17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Don’t just ask one AI. </a:t>
            </a:r>
            <a:pPr algn="ctr" indent="0" marL="0">
              <a:lnSpc>
                <a:spcPts val="2194"/>
              </a:lnSpc>
              <a:buNone/>
            </a:pPr>
            <a:r>
              <a:rPr lang="en-US" sz="1688" spc="17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</a:t>
            </a:r>
            <a:pPr algn="ctr" indent="0" marL="0">
              <a:lnSpc>
                <a:spcPts val="2194"/>
              </a:lnSpc>
              <a:buNone/>
            </a:pPr>
            <a:r>
              <a:rPr lang="en-US" sz="1688" spc="17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intelligence of many.</a:t>
            </a:r>
            <a:endParaRPr lang="en-US" sz="1688" dirty="0"/>
          </a:p>
        </p:txBody>
      </p:sp>
      <p:sp>
        <p:nvSpPr>
          <p:cNvPr id="50" name="Text 34"/>
          <p:cNvSpPr/>
          <p:nvPr/>
        </p:nvSpPr>
        <p:spPr>
          <a:xfrm>
            <a:off x="457200" y="4782741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1F1F5">
                    <a:alpha val="3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Strengths vary by task — no model is best at everything.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0" y="285750"/>
            <a:ext cx="785813" cy="785813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286750" y="285750"/>
            <a:ext cx="785813" cy="785813"/>
          </a:xfrm>
          <a:prstGeom prst="roundRect">
            <a:avLst>
              <a:gd name="adj" fmla="val 12119992"/>
            </a:avLst>
          </a:prstGeom>
          <a:solidFill>
            <a:srgbClr val="F1F1F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2"/>
          <p:cNvSpPr/>
          <p:nvPr/>
        </p:nvSpPr>
        <p:spPr>
          <a:xfrm>
            <a:off x="7215188" y="675084"/>
            <a:ext cx="1035844" cy="0"/>
          </a:xfrm>
          <a:prstGeom prst="line">
            <a:avLst/>
          </a:prstGeom>
          <a:noFill/>
          <a:ln w="7144">
            <a:solidFill>
              <a:srgbClr val="F1F1F5"/>
            </a:solidFill>
            <a:prstDash val="dash"/>
          </a:ln>
        </p:spPr>
      </p:sp>
      <p:sp>
        <p:nvSpPr>
          <p:cNvPr id="9" name="Shape 3"/>
          <p:cNvSpPr/>
          <p:nvPr/>
        </p:nvSpPr>
        <p:spPr>
          <a:xfrm>
            <a:off x="8683228" y="1071563"/>
            <a:ext cx="0" cy="357188"/>
          </a:xfrm>
          <a:prstGeom prst="line">
            <a:avLst/>
          </a:prstGeom>
          <a:noFill/>
          <a:ln w="7144">
            <a:solidFill>
              <a:srgbClr val="F1F1F5"/>
            </a:solidFill>
            <a:prstDash val="dash"/>
          </a:ln>
        </p:spPr>
      </p:sp>
      <p:sp>
        <p:nvSpPr>
          <p:cNvPr id="10" name="Shape 4"/>
          <p:cNvSpPr/>
          <p:nvPr/>
        </p:nvSpPr>
        <p:spPr>
          <a:xfrm>
            <a:off x="9033272" y="685800"/>
            <a:ext cx="0" cy="371475"/>
          </a:xfrm>
          <a:prstGeom prst="line">
            <a:avLst/>
          </a:prstGeom>
          <a:noFill/>
          <a:ln w="7144">
            <a:solidFill>
              <a:srgbClr val="F1F1F5"/>
            </a:solidFill>
            <a:prstDash val="dash"/>
          </a:ln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588" y="628650"/>
            <a:ext cx="100013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986588" y="628650"/>
            <a:ext cx="100013" cy="100013"/>
          </a:xfrm>
          <a:prstGeom prst="roundRect">
            <a:avLst>
              <a:gd name="adj" fmla="val 95228095"/>
            </a:avLst>
          </a:prstGeom>
          <a:solidFill>
            <a:srgbClr val="F1F1F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794" y="1471613"/>
            <a:ext cx="85725" cy="8572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636794" y="1471613"/>
            <a:ext cx="85725" cy="85725"/>
          </a:xfrm>
          <a:prstGeom prst="roundRect">
            <a:avLst>
              <a:gd name="adj" fmla="val 111100000"/>
            </a:avLst>
          </a:prstGeom>
          <a:solidFill>
            <a:srgbClr val="F1F1F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7"/>
          <p:cNvSpPr/>
          <p:nvPr/>
        </p:nvSpPr>
        <p:spPr>
          <a:xfrm>
            <a:off x="460772" y="346472"/>
            <a:ext cx="2746660" cy="210741"/>
          </a:xfrm>
          <a:prstGeom prst="roundRect">
            <a:avLst>
              <a:gd name="adj" fmla="val 45193140"/>
            </a:avLst>
          </a:prstGeom>
          <a:solidFill>
            <a:srgbClr val="C51F32">
              <a:alpha val="8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356" y="426839"/>
            <a:ext cx="50006" cy="5000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64356" y="426839"/>
            <a:ext cx="50006" cy="50006"/>
          </a:xfrm>
          <a:prstGeom prst="roundRect">
            <a:avLst>
              <a:gd name="adj" fmla="val 190458095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9"/>
          <p:cNvSpPr/>
          <p:nvPr/>
        </p:nvSpPr>
        <p:spPr>
          <a:xfrm>
            <a:off x="671513" y="392906"/>
            <a:ext cx="254206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 WITH SINGLE-LLM WORKFLOWS</a:t>
            </a:r>
            <a:endParaRPr lang="en-US" sz="800" dirty="0"/>
          </a:p>
        </p:txBody>
      </p:sp>
      <p:sp>
        <p:nvSpPr>
          <p:cNvPr id="19" name="Text 10"/>
          <p:cNvSpPr/>
          <p:nvPr/>
        </p:nvSpPr>
        <p:spPr>
          <a:xfrm>
            <a:off x="457200" y="689372"/>
            <a:ext cx="8636000" cy="390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46"/>
              </a:lnSpc>
              <a:buNone/>
            </a:pPr>
            <a:r>
              <a:rPr lang="en-US" sz="2588" b="1" spc="-39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AI. One Perspective. Potential Blind Spots.</a:t>
            </a:r>
            <a:endParaRPr lang="en-US" sz="2588" dirty="0"/>
          </a:p>
        </p:txBody>
      </p:sp>
      <p:sp>
        <p:nvSpPr>
          <p:cNvPr id="20" name="Text 11"/>
          <p:cNvSpPr/>
          <p:nvPr/>
        </p:nvSpPr>
        <p:spPr>
          <a:xfrm>
            <a:off x="460772" y="1240110"/>
            <a:ext cx="4036219" cy="1732025"/>
          </a:xfrm>
          <a:prstGeom prst="roundRect">
            <a:avLst>
              <a:gd name="adj" fmla="val 7699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2"/>
          <p:cNvSpPr/>
          <p:nvPr/>
        </p:nvSpPr>
        <p:spPr>
          <a:xfrm>
            <a:off x="650081" y="1620515"/>
            <a:ext cx="3343275" cy="231458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16200000">
              <a:srgbClr val="FF354D">
                <a:alpha val="35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FF35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688" dirty="0"/>
          </a:p>
        </p:txBody>
      </p:sp>
      <p:sp>
        <p:nvSpPr>
          <p:cNvPr id="22" name="Text 13"/>
          <p:cNvSpPr/>
          <p:nvPr/>
        </p:nvSpPr>
        <p:spPr>
          <a:xfrm>
            <a:off x="4011216" y="1624087"/>
            <a:ext cx="292894" cy="292894"/>
          </a:xfrm>
          <a:prstGeom prst="roundRect">
            <a:avLst>
              <a:gd name="adj" fmla="val 39024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4"/>
          <p:cNvSpPr/>
          <p:nvPr/>
        </p:nvSpPr>
        <p:spPr>
          <a:xfrm>
            <a:off x="4043720" y="165659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547" dirty="0"/>
          </a:p>
        </p:txBody>
      </p:sp>
      <p:sp>
        <p:nvSpPr>
          <p:cNvPr id="24" name="Text 15"/>
          <p:cNvSpPr/>
          <p:nvPr/>
        </p:nvSpPr>
        <p:spPr>
          <a:xfrm>
            <a:off x="650081" y="2006278"/>
            <a:ext cx="36576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Unverified answers</a:t>
            </a:r>
            <a:endParaRPr lang="en-US" sz="1125" dirty="0"/>
          </a:p>
        </p:txBody>
      </p:sp>
      <p:sp>
        <p:nvSpPr>
          <p:cNvPr id="25" name="Text 16"/>
          <p:cNvSpPr/>
          <p:nvPr/>
        </p:nvSpPr>
        <p:spPr>
          <a:xfrm>
            <a:off x="650081" y="2270596"/>
            <a:ext cx="3657600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single model can produce incorrect or misleading information, with no second opinion in sight.</a:t>
            </a:r>
            <a:endParaRPr lang="en-US" sz="816" dirty="0"/>
          </a:p>
        </p:txBody>
      </p:sp>
      <p:sp>
        <p:nvSpPr>
          <p:cNvPr id="26" name="Text 17"/>
          <p:cNvSpPr/>
          <p:nvPr/>
        </p:nvSpPr>
        <p:spPr>
          <a:xfrm>
            <a:off x="4647009" y="1240110"/>
            <a:ext cx="4036219" cy="1732025"/>
          </a:xfrm>
          <a:prstGeom prst="roundRect">
            <a:avLst>
              <a:gd name="adj" fmla="val 7699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18"/>
          <p:cNvSpPr/>
          <p:nvPr/>
        </p:nvSpPr>
        <p:spPr>
          <a:xfrm>
            <a:off x="4836319" y="1700771"/>
            <a:ext cx="3343275" cy="231458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16200000">
              <a:srgbClr val="FF354D">
                <a:alpha val="35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FF35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688" dirty="0"/>
          </a:p>
        </p:txBody>
      </p:sp>
      <p:sp>
        <p:nvSpPr>
          <p:cNvPr id="28" name="Text 19"/>
          <p:cNvSpPr/>
          <p:nvPr/>
        </p:nvSpPr>
        <p:spPr>
          <a:xfrm>
            <a:off x="8197453" y="1704342"/>
            <a:ext cx="292894" cy="292894"/>
          </a:xfrm>
          <a:prstGeom prst="roundRect">
            <a:avLst>
              <a:gd name="adj" fmla="val 39024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0"/>
          <p:cNvSpPr/>
          <p:nvPr/>
        </p:nvSpPr>
        <p:spPr>
          <a:xfrm>
            <a:off x="8229957" y="173684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547" dirty="0"/>
          </a:p>
        </p:txBody>
      </p:sp>
      <p:sp>
        <p:nvSpPr>
          <p:cNvPr id="30" name="Text 21"/>
          <p:cNvSpPr/>
          <p:nvPr/>
        </p:nvSpPr>
        <p:spPr>
          <a:xfrm>
            <a:off x="4836319" y="2086533"/>
            <a:ext cx="36576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built-in comparison</a:t>
            </a:r>
            <a:endParaRPr lang="en-US" sz="1125" dirty="0"/>
          </a:p>
        </p:txBody>
      </p:sp>
      <p:sp>
        <p:nvSpPr>
          <p:cNvPr id="31" name="Text 22"/>
          <p:cNvSpPr/>
          <p:nvPr/>
        </p:nvSpPr>
        <p:spPr>
          <a:xfrm>
            <a:off x="4836319" y="2350852"/>
            <a:ext cx="3657600" cy="1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 never see how other models would approach the same question.</a:t>
            </a:r>
            <a:endParaRPr lang="en-US" sz="816" dirty="0"/>
          </a:p>
        </p:txBody>
      </p:sp>
      <p:sp>
        <p:nvSpPr>
          <p:cNvPr id="32" name="Text 23"/>
          <p:cNvSpPr/>
          <p:nvPr/>
        </p:nvSpPr>
        <p:spPr>
          <a:xfrm>
            <a:off x="460772" y="3122154"/>
            <a:ext cx="4036219" cy="1732025"/>
          </a:xfrm>
          <a:prstGeom prst="roundRect">
            <a:avLst>
              <a:gd name="adj" fmla="val 7699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4"/>
          <p:cNvSpPr/>
          <p:nvPr/>
        </p:nvSpPr>
        <p:spPr>
          <a:xfrm>
            <a:off x="650081" y="3502558"/>
            <a:ext cx="3343275" cy="231458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16200000">
              <a:srgbClr val="FF354D">
                <a:alpha val="35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FF35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688" dirty="0"/>
          </a:p>
        </p:txBody>
      </p:sp>
      <p:sp>
        <p:nvSpPr>
          <p:cNvPr id="34" name="Text 25"/>
          <p:cNvSpPr/>
          <p:nvPr/>
        </p:nvSpPr>
        <p:spPr>
          <a:xfrm>
            <a:off x="4011216" y="3506130"/>
            <a:ext cx="292894" cy="292894"/>
          </a:xfrm>
          <a:prstGeom prst="roundRect">
            <a:avLst>
              <a:gd name="adj" fmla="val 39024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6"/>
          <p:cNvSpPr/>
          <p:nvPr/>
        </p:nvSpPr>
        <p:spPr>
          <a:xfrm>
            <a:off x="4043720" y="353863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⎘</a:t>
            </a:r>
            <a:endParaRPr lang="en-US" sz="1547" dirty="0"/>
          </a:p>
        </p:txBody>
      </p:sp>
      <p:sp>
        <p:nvSpPr>
          <p:cNvPr id="36" name="Text 27"/>
          <p:cNvSpPr/>
          <p:nvPr/>
        </p:nvSpPr>
        <p:spPr>
          <a:xfrm>
            <a:off x="650081" y="3888321"/>
            <a:ext cx="36576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 effort</a:t>
            </a:r>
            <a:endParaRPr lang="en-US" sz="1125" dirty="0"/>
          </a:p>
        </p:txBody>
      </p:sp>
      <p:sp>
        <p:nvSpPr>
          <p:cNvPr id="37" name="Text 28"/>
          <p:cNvSpPr/>
          <p:nvPr/>
        </p:nvSpPr>
        <p:spPr>
          <a:xfrm>
            <a:off x="650081" y="4152640"/>
            <a:ext cx="3657600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Comparing means switching between websites and re-typing the same prompt, again and again.</a:t>
            </a:r>
            <a:endParaRPr lang="en-US" sz="816" dirty="0"/>
          </a:p>
        </p:txBody>
      </p:sp>
      <p:sp>
        <p:nvSpPr>
          <p:cNvPr id="38" name="Text 29"/>
          <p:cNvSpPr/>
          <p:nvPr/>
        </p:nvSpPr>
        <p:spPr>
          <a:xfrm>
            <a:off x="4647009" y="3122154"/>
            <a:ext cx="4036219" cy="1732025"/>
          </a:xfrm>
          <a:prstGeom prst="roundRect">
            <a:avLst>
              <a:gd name="adj" fmla="val 7699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0"/>
          <p:cNvSpPr/>
          <p:nvPr/>
        </p:nvSpPr>
        <p:spPr>
          <a:xfrm>
            <a:off x="4836319" y="3582814"/>
            <a:ext cx="3343275" cy="231458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16200000">
              <a:srgbClr val="FF354D">
                <a:alpha val="35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FF35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688" dirty="0"/>
          </a:p>
        </p:txBody>
      </p:sp>
      <p:sp>
        <p:nvSpPr>
          <p:cNvPr id="40" name="Text 31"/>
          <p:cNvSpPr/>
          <p:nvPr/>
        </p:nvSpPr>
        <p:spPr>
          <a:xfrm>
            <a:off x="8197453" y="3586386"/>
            <a:ext cx="292894" cy="292894"/>
          </a:xfrm>
          <a:prstGeom prst="roundRect">
            <a:avLst>
              <a:gd name="adj" fmla="val 39024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2"/>
          <p:cNvSpPr/>
          <p:nvPr/>
        </p:nvSpPr>
        <p:spPr>
          <a:xfrm>
            <a:off x="8229957" y="361889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547" dirty="0"/>
          </a:p>
        </p:txBody>
      </p:sp>
      <p:sp>
        <p:nvSpPr>
          <p:cNvPr id="42" name="Text 33"/>
          <p:cNvSpPr/>
          <p:nvPr/>
        </p:nvSpPr>
        <p:spPr>
          <a:xfrm>
            <a:off x="4836319" y="3968576"/>
            <a:ext cx="36576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Single-model dependency</a:t>
            </a:r>
            <a:endParaRPr lang="en-US" sz="1125" dirty="0"/>
          </a:p>
        </p:txBody>
      </p:sp>
      <p:sp>
        <p:nvSpPr>
          <p:cNvPr id="43" name="Text 34"/>
          <p:cNvSpPr/>
          <p:nvPr/>
        </p:nvSpPr>
        <p:spPr>
          <a:xfrm>
            <a:off x="4836319" y="4232895"/>
            <a:ext cx="3657600" cy="1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 that service fails or hits a usage limit, the whole workflow stops.</a:t>
            </a:r>
            <a:endParaRPr lang="en-US" sz="81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>
            <a:alphaModFix amt="99000"/>
          </a:blip>
          <a:stretch>
            <a:fillRect/>
          </a:stretch>
        </p:blipFill>
        <p:spPr>
          <a:xfrm>
            <a:off x="1657350" y="914400"/>
            <a:ext cx="5572125" cy="385762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657350" y="914400"/>
            <a:ext cx="5572125" cy="3857625"/>
          </a:xfrm>
          <a:prstGeom prst="roundRect">
            <a:avLst>
              <a:gd name="adj" fmla="val 2468889"/>
            </a:avLst>
          </a:prstGeom>
          <a:solidFill>
            <a:srgbClr val="C51F32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>
            <a:alphaModFix amt="99000"/>
          </a:blip>
          <a:stretch>
            <a:fillRect/>
          </a:stretch>
        </p:blipFill>
        <p:spPr>
          <a:xfrm>
            <a:off x="3300413" y="1700213"/>
            <a:ext cx="2286000" cy="22860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3300413" y="1700213"/>
            <a:ext cx="2286000" cy="2286000"/>
          </a:xfrm>
          <a:prstGeom prst="roundRect">
            <a:avLst>
              <a:gd name="adj" fmla="val 4166250"/>
            </a:avLst>
          </a:prstGeom>
          <a:solidFill>
            <a:srgbClr val="C51F32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3"/>
          <p:cNvSpPr/>
          <p:nvPr/>
        </p:nvSpPr>
        <p:spPr>
          <a:xfrm>
            <a:off x="3369952" y="346472"/>
            <a:ext cx="2403983" cy="210741"/>
          </a:xfrm>
          <a:prstGeom prst="roundRect">
            <a:avLst>
              <a:gd name="adj" fmla="val 45193140"/>
            </a:avLst>
          </a:prstGeom>
          <a:solidFill>
            <a:srgbClr val="C51F32">
              <a:alpha val="8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3537" y="426839"/>
            <a:ext cx="50006" cy="50006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3473537" y="426839"/>
            <a:ext cx="50006" cy="50006"/>
          </a:xfrm>
          <a:prstGeom prst="roundRect">
            <a:avLst>
              <a:gd name="adj" fmla="val 190458095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5"/>
          <p:cNvSpPr/>
          <p:nvPr/>
        </p:nvSpPr>
        <p:spPr>
          <a:xfrm>
            <a:off x="3473537" y="392906"/>
            <a:ext cx="230654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SOLUTION — A MULTI-AI CHATBOT</a:t>
            </a:r>
            <a:endParaRPr lang="en-US" sz="800" dirty="0"/>
          </a:p>
        </p:txBody>
      </p:sp>
      <p:sp>
        <p:nvSpPr>
          <p:cNvPr id="14" name="Text 6"/>
          <p:cNvSpPr/>
          <p:nvPr/>
        </p:nvSpPr>
        <p:spPr>
          <a:xfrm>
            <a:off x="274320" y="660797"/>
            <a:ext cx="8595248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38"/>
              </a:lnSpc>
              <a:buNone/>
            </a:pPr>
            <a:r>
              <a:rPr lang="en-US" sz="2813" b="1" spc="56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Meet HIVE MIND</a:t>
            </a:r>
            <a:endParaRPr lang="en-US" sz="2813" dirty="0"/>
          </a:p>
        </p:txBody>
      </p:sp>
      <p:sp>
        <p:nvSpPr>
          <p:cNvPr id="15" name="Text 7"/>
          <p:cNvSpPr/>
          <p:nvPr/>
        </p:nvSpPr>
        <p:spPr>
          <a:xfrm>
            <a:off x="2406886" y="1117997"/>
            <a:ext cx="4330117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Ask once — every selected model answers in parallel — and the hive combines the results.</a:t>
            </a:r>
            <a:endParaRPr lang="en-US" sz="844" dirty="0"/>
          </a:p>
        </p:txBody>
      </p:sp>
      <p:sp>
        <p:nvSpPr>
          <p:cNvPr id="16" name="Text 8"/>
          <p:cNvSpPr/>
          <p:nvPr/>
        </p:nvSpPr>
        <p:spPr>
          <a:xfrm>
            <a:off x="953691" y="2230524"/>
            <a:ext cx="1678781" cy="853901"/>
          </a:xfrm>
          <a:prstGeom prst="roundRect">
            <a:avLst>
              <a:gd name="adj" fmla="val 15617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9"/>
          <p:cNvSpPr/>
          <p:nvPr/>
        </p:nvSpPr>
        <p:spPr>
          <a:xfrm>
            <a:off x="1114425" y="2377864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1F1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195" dirty="0"/>
          </a:p>
        </p:txBody>
      </p:sp>
      <p:sp>
        <p:nvSpPr>
          <p:cNvPr id="18" name="Text 10"/>
          <p:cNvSpPr/>
          <p:nvPr/>
        </p:nvSpPr>
        <p:spPr>
          <a:xfrm>
            <a:off x="1293019" y="2376971"/>
            <a:ext cx="11787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16" kern="0" dirty="0">
                <a:solidFill>
                  <a:srgbClr val="F1F1F5">
                    <a:alpha val="3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QUESTION</a:t>
            </a:r>
            <a:endParaRPr lang="en-US" sz="800" dirty="0"/>
          </a:p>
        </p:txBody>
      </p:sp>
      <p:sp>
        <p:nvSpPr>
          <p:cNvPr id="19" name="Text 11"/>
          <p:cNvSpPr/>
          <p:nvPr/>
        </p:nvSpPr>
        <p:spPr>
          <a:xfrm>
            <a:off x="1114425" y="2585926"/>
            <a:ext cx="1357313" cy="35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956" i="1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</a:t>
            </a:r>
            <a:pPr algn="l" indent="0" marL="0">
              <a:lnSpc>
                <a:spcPts val="1387"/>
              </a:lnSpc>
              <a:buNone/>
            </a:pPr>
            <a:r>
              <a:rPr lang="en-US" sz="956" i="1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laptop for a CS student?</a:t>
            </a:r>
            <a:pPr algn="l" indent="0" marL="0">
              <a:lnSpc>
                <a:spcPts val="1387"/>
              </a:lnSpc>
              <a:buNone/>
            </a:pPr>
            <a:r>
              <a:rPr lang="en-US" sz="956" i="1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”</a:t>
            </a:r>
            <a:endParaRPr lang="en-US" sz="956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4619" y="2657475"/>
            <a:ext cx="571500" cy="714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2857500" y="2564606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22" name="Text 13"/>
          <p:cNvSpPr/>
          <p:nvPr/>
        </p:nvSpPr>
        <p:spPr>
          <a:xfrm>
            <a:off x="3264694" y="2021681"/>
            <a:ext cx="7144" cy="1185863"/>
          </a:xfrm>
          <a:prstGeom prst="rect">
            <a:avLst/>
          </a:prstGeom>
          <a:solidFill>
            <a:srgbClr val="C51F32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4"/>
          <p:cNvSpPr/>
          <p:nvPr/>
        </p:nvSpPr>
        <p:spPr>
          <a:xfrm>
            <a:off x="5614988" y="2021681"/>
            <a:ext cx="7144" cy="1185863"/>
          </a:xfrm>
          <a:prstGeom prst="rect">
            <a:avLst/>
          </a:prstGeom>
          <a:solidFill>
            <a:srgbClr val="C51F32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5"/>
          <p:cNvSpPr/>
          <p:nvPr/>
        </p:nvSpPr>
        <p:spPr>
          <a:xfrm>
            <a:off x="3264694" y="2021681"/>
            <a:ext cx="2357438" cy="7144"/>
          </a:xfrm>
          <a:prstGeom prst="rect">
            <a:avLst/>
          </a:prstGeom>
          <a:solidFill>
            <a:srgbClr val="C51F32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6"/>
          <p:cNvSpPr/>
          <p:nvPr/>
        </p:nvSpPr>
        <p:spPr>
          <a:xfrm>
            <a:off x="3264694" y="2293144"/>
            <a:ext cx="2357438" cy="7144"/>
          </a:xfrm>
          <a:prstGeom prst="rect">
            <a:avLst/>
          </a:prstGeom>
          <a:solidFill>
            <a:srgbClr val="C51F32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7"/>
          <p:cNvSpPr/>
          <p:nvPr/>
        </p:nvSpPr>
        <p:spPr>
          <a:xfrm>
            <a:off x="3264694" y="2621756"/>
            <a:ext cx="2357438" cy="7144"/>
          </a:xfrm>
          <a:prstGeom prst="rect">
            <a:avLst/>
          </a:prstGeom>
          <a:solidFill>
            <a:srgbClr val="C51F32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18"/>
          <p:cNvSpPr/>
          <p:nvPr/>
        </p:nvSpPr>
        <p:spPr>
          <a:xfrm>
            <a:off x="3264694" y="2950369"/>
            <a:ext cx="2357438" cy="7144"/>
          </a:xfrm>
          <a:prstGeom prst="rect">
            <a:avLst/>
          </a:prstGeom>
          <a:solidFill>
            <a:srgbClr val="C51F32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19"/>
          <p:cNvSpPr/>
          <p:nvPr/>
        </p:nvSpPr>
        <p:spPr>
          <a:xfrm>
            <a:off x="3264694" y="3207544"/>
            <a:ext cx="2357438" cy="7144"/>
          </a:xfrm>
          <a:prstGeom prst="rect">
            <a:avLst/>
          </a:prstGeom>
          <a:solidFill>
            <a:srgbClr val="C51F32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4825" y="1893094"/>
            <a:ext cx="257175" cy="257175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314825" y="1893094"/>
            <a:ext cx="257175" cy="257175"/>
          </a:xfrm>
          <a:prstGeom prst="roundRect">
            <a:avLst>
              <a:gd name="adj" fmla="val 37033333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4825" y="2164556"/>
            <a:ext cx="257175" cy="257175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314825" y="2164556"/>
            <a:ext cx="257175" cy="257175"/>
          </a:xfrm>
          <a:prstGeom prst="roundRect">
            <a:avLst>
              <a:gd name="adj" fmla="val 37033333"/>
            </a:avLst>
          </a:prstGeom>
          <a:solidFill>
            <a:srgbClr val="7557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4825" y="2493169"/>
            <a:ext cx="257175" cy="257175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314825" y="2493169"/>
            <a:ext cx="257175" cy="257175"/>
          </a:xfrm>
          <a:prstGeom prst="roundRect">
            <a:avLst>
              <a:gd name="adj" fmla="val 37033333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4825" y="2821781"/>
            <a:ext cx="257175" cy="257175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4314825" y="2821781"/>
            <a:ext cx="257175" cy="257175"/>
          </a:xfrm>
          <a:prstGeom prst="roundRect">
            <a:avLst>
              <a:gd name="adj" fmla="val 37033333"/>
            </a:avLst>
          </a:prstGeom>
          <a:solidFill>
            <a:srgbClr val="7557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4825" y="3078956"/>
            <a:ext cx="257175" cy="257175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4314825" y="3078956"/>
            <a:ext cx="257175" cy="257175"/>
          </a:xfrm>
          <a:prstGeom prst="roundRect">
            <a:avLst>
              <a:gd name="adj" fmla="val 37033333"/>
            </a:avLst>
          </a:prstGeom>
          <a:solidFill>
            <a:srgbClr val="C51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50706" y="2657475"/>
            <a:ext cx="571500" cy="7144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5843588" y="2564606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41" name="Text 26"/>
          <p:cNvSpPr/>
          <p:nvPr/>
        </p:nvSpPr>
        <p:spPr>
          <a:xfrm>
            <a:off x="6254353" y="2170361"/>
            <a:ext cx="1935956" cy="974229"/>
          </a:xfrm>
          <a:prstGeom prst="roundRect">
            <a:avLst>
              <a:gd name="adj" fmla="val 13688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  <a:effectLst>
            <a:outerShdw sx="100000" sy="100000" kx="0" ky="0" algn="bl" rotWithShape="0" blurRad="381000" dist="50800" dir="16200000">
              <a:srgbClr val="C51F32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27"/>
          <p:cNvSpPr/>
          <p:nvPr/>
        </p:nvSpPr>
        <p:spPr>
          <a:xfrm>
            <a:off x="6415088" y="234181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43" name="Text 28"/>
          <p:cNvSpPr/>
          <p:nvPr/>
        </p:nvSpPr>
        <p:spPr>
          <a:xfrm>
            <a:off x="6622256" y="2316807"/>
            <a:ext cx="140731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142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HIVE VERDICT</a:t>
            </a:r>
            <a:endParaRPr lang="en-US" sz="1013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5088" y="2595414"/>
            <a:ext cx="1614488" cy="7144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6415088" y="2688282"/>
            <a:ext cx="161448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synthesized verdict drawn from every perspective.</a:t>
            </a:r>
            <a:endParaRPr lang="en-US" sz="800" dirty="0"/>
          </a:p>
        </p:txBody>
      </p:sp>
      <p:sp>
        <p:nvSpPr>
          <p:cNvPr id="46" name="Text 30"/>
          <p:cNvSpPr/>
          <p:nvPr/>
        </p:nvSpPr>
        <p:spPr>
          <a:xfrm>
            <a:off x="748229" y="3664744"/>
            <a:ext cx="20897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F1F1F5">
                    <a:alpha val="3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prompt enters</a:t>
            </a:r>
            <a:endParaRPr lang="en-US" sz="800" dirty="0"/>
          </a:p>
        </p:txBody>
      </p:sp>
      <p:sp>
        <p:nvSpPr>
          <p:cNvPr id="47" name="Text 31"/>
          <p:cNvSpPr/>
          <p:nvPr/>
        </p:nvSpPr>
        <p:spPr>
          <a:xfrm>
            <a:off x="3170396" y="3664744"/>
            <a:ext cx="25460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F1F1F5">
                    <a:alpha val="3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Parallel responses, side by side</a:t>
            </a:r>
            <a:endParaRPr lang="en-US" sz="800" dirty="0"/>
          </a:p>
        </p:txBody>
      </p:sp>
      <p:sp>
        <p:nvSpPr>
          <p:cNvPr id="48" name="Text 32"/>
          <p:cNvSpPr/>
          <p:nvPr/>
        </p:nvSpPr>
        <p:spPr>
          <a:xfrm>
            <a:off x="6173057" y="3664744"/>
            <a:ext cx="20985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F1F1F5">
                    <a:alpha val="3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combined answer emerges</a:t>
            </a:r>
            <a:endParaRPr lang="en-US" sz="800" dirty="0"/>
          </a:p>
        </p:txBody>
      </p:sp>
      <p:sp>
        <p:nvSpPr>
          <p:cNvPr id="49" name="Text 33"/>
          <p:cNvSpPr/>
          <p:nvPr/>
        </p:nvSpPr>
        <p:spPr>
          <a:xfrm>
            <a:off x="400050" y="4279106"/>
            <a:ext cx="7286625" cy="62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78"/>
              </a:lnSpc>
              <a:buNone/>
            </a:pPr>
            <a:r>
              <a:rPr lang="en-US" sz="1688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</a:t>
            </a:r>
            <a:pPr algn="ctr" indent="0" marL="0">
              <a:lnSpc>
                <a:spcPts val="2278"/>
              </a:lnSpc>
              <a:buNone/>
            </a:pPr>
            <a:r>
              <a:rPr lang="en-US" sz="1688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question enters. Multiple AI responses emerge. One combined answer brings them together.</a:t>
            </a:r>
            <a:pPr algn="ctr" indent="0" marL="0">
              <a:lnSpc>
                <a:spcPts val="2278"/>
              </a:lnSpc>
              <a:buNone/>
            </a:pPr>
            <a:r>
              <a:rPr lang="en-US" sz="1688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”</a:t>
            </a:r>
            <a:endParaRPr lang="en-US" sz="168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34340" y="401536"/>
            <a:ext cx="1661324" cy="243488"/>
          </a:xfrm>
          <a:prstGeom prst="roundRect">
            <a:avLst>
              <a:gd name="adj" fmla="val 39115059"/>
            </a:avLst>
          </a:prstGeom>
          <a:solidFill>
            <a:srgbClr val="C51F32">
              <a:alpha val="8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564356" y="501848"/>
            <a:ext cx="42863" cy="42863"/>
          </a:xfrm>
          <a:prstGeom prst="ellipse">
            <a:avLst/>
          </a:prstGeom>
          <a:solidFill>
            <a:srgbClr val="FF354D"/>
          </a:solidFill>
          <a:ln/>
          <a:effectLst>
            <a:outerShdw sx="100000" sy="100000" kx="0" ky="0" algn="bl" rotWithShape="0" blurRad="76200" dist="50800" dir="16200000">
              <a:srgbClr val="FF354D">
                <a:alpha val="8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664369" y="464344"/>
            <a:ext cx="130127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9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HIVE MIND WORKS</a:t>
            </a:r>
            <a:endParaRPr lang="en-US" sz="800" dirty="0"/>
          </a:p>
        </p:txBody>
      </p:sp>
      <p:sp>
        <p:nvSpPr>
          <p:cNvPr id="9" name="Text 4"/>
          <p:cNvSpPr/>
          <p:nvPr/>
        </p:nvSpPr>
        <p:spPr>
          <a:xfrm>
            <a:off x="457200" y="746522"/>
            <a:ext cx="8636000" cy="38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5"/>
              </a:lnSpc>
              <a:buNone/>
            </a:pPr>
            <a:r>
              <a:rPr lang="en-US" sz="2588" b="1" spc="-26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One Question to One Combined Answer</a:t>
            </a:r>
            <a:endParaRPr lang="en-US" sz="2588" dirty="0"/>
          </a:p>
        </p:txBody>
      </p:sp>
      <p:sp>
        <p:nvSpPr>
          <p:cNvPr id="10" name="Text 5"/>
          <p:cNvSpPr/>
          <p:nvPr/>
        </p:nvSpPr>
        <p:spPr>
          <a:xfrm>
            <a:off x="460772" y="1597186"/>
            <a:ext cx="2488369" cy="1035844"/>
          </a:xfrm>
          <a:prstGeom prst="roundRect">
            <a:avLst>
              <a:gd name="adj" fmla="val 12874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" y="1743633"/>
            <a:ext cx="357188" cy="3571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5078" y="1747205"/>
            <a:ext cx="350044" cy="350044"/>
          </a:xfrm>
          <a:prstGeom prst="ellipse">
            <a:avLst/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  <a:effectLst>
            <a:outerShdw sx="100000" sy="100000" kx="0" ky="0" algn="bl" rotWithShape="0" blurRad="171450" dist="50800" dir="16200000">
              <a:srgbClr val="C51F32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760363" y="1815071"/>
            <a:ext cx="211187" cy="231458"/>
          </a:xfrm>
          <a:prstGeom prst="rect">
            <a:avLst/>
          </a:prstGeom>
          <a:noFill/>
          <a:ln/>
          <a:effectLst>
            <a:outerShdw sx="100000" sy="100000" kx="0" ky="0" algn="bl" rotWithShape="0" blurRad="133350" dist="50800" dir="16200000">
              <a:srgbClr val="FF354D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35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125" dirty="0"/>
          </a:p>
        </p:txBody>
      </p:sp>
      <p:sp>
        <p:nvSpPr>
          <p:cNvPr id="14" name="Text 8"/>
          <p:cNvSpPr/>
          <p:nvPr/>
        </p:nvSpPr>
        <p:spPr>
          <a:xfrm>
            <a:off x="1078706" y="1820428"/>
            <a:ext cx="170970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64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ASK</a:t>
            </a:r>
            <a:endParaRPr lang="en-US" sz="1069" dirty="0"/>
          </a:p>
        </p:txBody>
      </p:sp>
      <p:sp>
        <p:nvSpPr>
          <p:cNvPr id="15" name="Text 9"/>
          <p:cNvSpPr/>
          <p:nvPr/>
        </p:nvSpPr>
        <p:spPr>
          <a:xfrm>
            <a:off x="621506" y="2186546"/>
            <a:ext cx="21669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user enters a question.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2952713" y="2111536"/>
            <a:ext cx="125016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3077728" y="2054386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1F1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95" dirty="0"/>
          </a:p>
        </p:txBody>
      </p:sp>
      <p:sp>
        <p:nvSpPr>
          <p:cNvPr id="18" name="Text 12"/>
          <p:cNvSpPr/>
          <p:nvPr/>
        </p:nvSpPr>
        <p:spPr>
          <a:xfrm>
            <a:off x="3199172" y="2111536"/>
            <a:ext cx="125016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3327760" y="1597186"/>
            <a:ext cx="2488481" cy="1035844"/>
          </a:xfrm>
          <a:prstGeom prst="roundRect">
            <a:avLst>
              <a:gd name="adj" fmla="val 12874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8494" y="1743633"/>
            <a:ext cx="357188" cy="3571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492066" y="1747205"/>
            <a:ext cx="350044" cy="350044"/>
          </a:xfrm>
          <a:prstGeom prst="ellipse">
            <a:avLst/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  <a:effectLst>
            <a:outerShdw sx="100000" sy="100000" kx="0" ky="0" algn="bl" rotWithShape="0" blurRad="171450" dist="50800" dir="16200000">
              <a:srgbClr val="C51F32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3627351" y="1815071"/>
            <a:ext cx="211187" cy="231458"/>
          </a:xfrm>
          <a:prstGeom prst="rect">
            <a:avLst/>
          </a:prstGeom>
          <a:noFill/>
          <a:ln/>
          <a:effectLst>
            <a:outerShdw sx="100000" sy="100000" kx="0" ky="0" algn="bl" rotWithShape="0" blurRad="133350" dist="50800" dir="16200000">
              <a:srgbClr val="FF354D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35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125" dirty="0"/>
          </a:p>
        </p:txBody>
      </p:sp>
      <p:sp>
        <p:nvSpPr>
          <p:cNvPr id="23" name="Text 16"/>
          <p:cNvSpPr/>
          <p:nvPr/>
        </p:nvSpPr>
        <p:spPr>
          <a:xfrm>
            <a:off x="3945694" y="1820428"/>
            <a:ext cx="1709812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64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DISPATCH</a:t>
            </a:r>
            <a:endParaRPr lang="en-US" sz="1069" dirty="0"/>
          </a:p>
        </p:txBody>
      </p:sp>
      <p:sp>
        <p:nvSpPr>
          <p:cNvPr id="24" name="Text 17"/>
          <p:cNvSpPr/>
          <p:nvPr/>
        </p:nvSpPr>
        <p:spPr>
          <a:xfrm>
            <a:off x="3488494" y="2186546"/>
            <a:ext cx="216701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Hive Mind sends it to the selected AI models.</a:t>
            </a:r>
            <a:endParaRPr lang="en-US" sz="800" dirty="0"/>
          </a:p>
        </p:txBody>
      </p:sp>
      <p:sp>
        <p:nvSpPr>
          <p:cNvPr id="25" name="Text 18"/>
          <p:cNvSpPr/>
          <p:nvPr/>
        </p:nvSpPr>
        <p:spPr>
          <a:xfrm>
            <a:off x="5819812" y="2111536"/>
            <a:ext cx="125016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5944828" y="2054386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1F1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95" dirty="0"/>
          </a:p>
        </p:txBody>
      </p:sp>
      <p:sp>
        <p:nvSpPr>
          <p:cNvPr id="27" name="Text 20"/>
          <p:cNvSpPr/>
          <p:nvPr/>
        </p:nvSpPr>
        <p:spPr>
          <a:xfrm>
            <a:off x="6066272" y="2111536"/>
            <a:ext cx="125016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6194859" y="1597186"/>
            <a:ext cx="2488369" cy="1035844"/>
          </a:xfrm>
          <a:prstGeom prst="roundRect">
            <a:avLst>
              <a:gd name="adj" fmla="val 12874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593" y="1743633"/>
            <a:ext cx="357188" cy="35718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359165" y="1747205"/>
            <a:ext cx="350044" cy="350044"/>
          </a:xfrm>
          <a:prstGeom prst="ellipse">
            <a:avLst/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  <a:effectLst>
            <a:outerShdw sx="100000" sy="100000" kx="0" ky="0" algn="bl" rotWithShape="0" blurRad="171450" dist="50800" dir="16200000">
              <a:srgbClr val="C51F32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6494450" y="1815071"/>
            <a:ext cx="211187" cy="231458"/>
          </a:xfrm>
          <a:prstGeom prst="rect">
            <a:avLst/>
          </a:prstGeom>
          <a:noFill/>
          <a:ln/>
          <a:effectLst>
            <a:outerShdw sx="100000" sy="100000" kx="0" ky="0" algn="bl" rotWithShape="0" blurRad="133350" dist="50800" dir="16200000">
              <a:srgbClr val="FF354D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35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125" dirty="0"/>
          </a:p>
        </p:txBody>
      </p:sp>
      <p:sp>
        <p:nvSpPr>
          <p:cNvPr id="32" name="Text 24"/>
          <p:cNvSpPr/>
          <p:nvPr/>
        </p:nvSpPr>
        <p:spPr>
          <a:xfrm>
            <a:off x="6812793" y="1820428"/>
            <a:ext cx="170970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64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COLLECT</a:t>
            </a:r>
            <a:endParaRPr lang="en-US" sz="1069" dirty="0"/>
          </a:p>
        </p:txBody>
      </p:sp>
      <p:sp>
        <p:nvSpPr>
          <p:cNvPr id="33" name="Text 25"/>
          <p:cNvSpPr/>
          <p:nvPr/>
        </p:nvSpPr>
        <p:spPr>
          <a:xfrm>
            <a:off x="6355593" y="2186546"/>
            <a:ext cx="21669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Models generate separate responses in parallel.</a:t>
            </a:r>
            <a:endParaRPr lang="en-US" sz="800" dirty="0"/>
          </a:p>
        </p:txBody>
      </p:sp>
      <p:sp>
        <p:nvSpPr>
          <p:cNvPr id="34" name="Text 26"/>
          <p:cNvSpPr/>
          <p:nvPr/>
        </p:nvSpPr>
        <p:spPr>
          <a:xfrm>
            <a:off x="457200" y="2933067"/>
            <a:ext cx="3871913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4446984" y="2811624"/>
            <a:ext cx="250031" cy="250031"/>
          </a:xfrm>
          <a:prstGeom prst="ellipse">
            <a:avLst/>
          </a:prstGeom>
          <a:solidFill>
            <a:srgbClr val="C51F32">
              <a:alpha val="12000"/>
            </a:srgbClr>
          </a:solidFill>
          <a:ln w="7144">
            <a:solidFill>
              <a:srgbClr val="C51F32"/>
            </a:solidFill>
            <a:prstDash val="solid"/>
          </a:ln>
          <a:effectLst>
            <a:outerShdw sx="100000" sy="100000" kx="0" ky="0" algn="bl" rotWithShape="0" blurRad="152400" dist="50800" dir="16200000">
              <a:srgbClr val="C51F32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4478774" y="284341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37" name="Text 29"/>
          <p:cNvSpPr/>
          <p:nvPr/>
        </p:nvSpPr>
        <p:spPr>
          <a:xfrm>
            <a:off x="4814888" y="2933067"/>
            <a:ext cx="3871913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460772" y="3240249"/>
            <a:ext cx="2488369" cy="1035844"/>
          </a:xfrm>
          <a:prstGeom prst="roundRect">
            <a:avLst>
              <a:gd name="adj" fmla="val 12874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506" y="3386696"/>
            <a:ext cx="357188" cy="35718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25078" y="3390267"/>
            <a:ext cx="350044" cy="350044"/>
          </a:xfrm>
          <a:prstGeom prst="ellipse">
            <a:avLst/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  <a:effectLst>
            <a:outerShdw sx="100000" sy="100000" kx="0" ky="0" algn="bl" rotWithShape="0" blurRad="171450" dist="50800" dir="16200000">
              <a:srgbClr val="C51F32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2"/>
          <p:cNvSpPr/>
          <p:nvPr/>
        </p:nvSpPr>
        <p:spPr>
          <a:xfrm>
            <a:off x="760363" y="3458133"/>
            <a:ext cx="211187" cy="231458"/>
          </a:xfrm>
          <a:prstGeom prst="rect">
            <a:avLst/>
          </a:prstGeom>
          <a:noFill/>
          <a:ln/>
          <a:effectLst>
            <a:outerShdw sx="100000" sy="100000" kx="0" ky="0" algn="bl" rotWithShape="0" blurRad="133350" dist="50800" dir="16200000">
              <a:srgbClr val="FF354D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35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125" dirty="0"/>
          </a:p>
        </p:txBody>
      </p:sp>
      <p:sp>
        <p:nvSpPr>
          <p:cNvPr id="42" name="Text 33"/>
          <p:cNvSpPr/>
          <p:nvPr/>
        </p:nvSpPr>
        <p:spPr>
          <a:xfrm>
            <a:off x="1078706" y="3463491"/>
            <a:ext cx="170970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64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</a:t>
            </a:r>
            <a:endParaRPr lang="en-US" sz="1069" dirty="0"/>
          </a:p>
        </p:txBody>
      </p:sp>
      <p:sp>
        <p:nvSpPr>
          <p:cNvPr id="43" name="Text 34"/>
          <p:cNvSpPr/>
          <p:nvPr/>
        </p:nvSpPr>
        <p:spPr>
          <a:xfrm>
            <a:off x="621506" y="3829608"/>
            <a:ext cx="21669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Answers are displayed side by side; agreements, differences and insights surface.</a:t>
            </a:r>
            <a:endParaRPr lang="en-US" sz="800" dirty="0"/>
          </a:p>
        </p:txBody>
      </p:sp>
      <p:sp>
        <p:nvSpPr>
          <p:cNvPr id="44" name="Text 35"/>
          <p:cNvSpPr/>
          <p:nvPr/>
        </p:nvSpPr>
        <p:spPr>
          <a:xfrm>
            <a:off x="2952713" y="3754599"/>
            <a:ext cx="125016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6"/>
          <p:cNvSpPr/>
          <p:nvPr/>
        </p:nvSpPr>
        <p:spPr>
          <a:xfrm>
            <a:off x="3077728" y="3697449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1F1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95" dirty="0"/>
          </a:p>
        </p:txBody>
      </p:sp>
      <p:sp>
        <p:nvSpPr>
          <p:cNvPr id="46" name="Text 37"/>
          <p:cNvSpPr/>
          <p:nvPr/>
        </p:nvSpPr>
        <p:spPr>
          <a:xfrm>
            <a:off x="3199172" y="3754599"/>
            <a:ext cx="125016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8"/>
          <p:cNvSpPr/>
          <p:nvPr/>
        </p:nvSpPr>
        <p:spPr>
          <a:xfrm>
            <a:off x="3327760" y="3240249"/>
            <a:ext cx="2488481" cy="1035844"/>
          </a:xfrm>
          <a:prstGeom prst="roundRect">
            <a:avLst>
              <a:gd name="adj" fmla="val 12874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8494" y="3386696"/>
            <a:ext cx="357188" cy="357188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3492066" y="3390267"/>
            <a:ext cx="350044" cy="350044"/>
          </a:xfrm>
          <a:prstGeom prst="ellipse">
            <a:avLst/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  <a:effectLst>
            <a:outerShdw sx="100000" sy="100000" kx="0" ky="0" algn="bl" rotWithShape="0" blurRad="171450" dist="50800" dir="16200000">
              <a:srgbClr val="C51F32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0"/>
          <p:cNvSpPr/>
          <p:nvPr/>
        </p:nvSpPr>
        <p:spPr>
          <a:xfrm>
            <a:off x="3627351" y="3458133"/>
            <a:ext cx="211187" cy="231458"/>
          </a:xfrm>
          <a:prstGeom prst="rect">
            <a:avLst/>
          </a:prstGeom>
          <a:noFill/>
          <a:ln/>
          <a:effectLst>
            <a:outerShdw sx="100000" sy="100000" kx="0" ky="0" algn="bl" rotWithShape="0" blurRad="133350" dist="50800" dir="16200000">
              <a:srgbClr val="FF354D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35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125" dirty="0"/>
          </a:p>
        </p:txBody>
      </p:sp>
      <p:sp>
        <p:nvSpPr>
          <p:cNvPr id="51" name="Text 41"/>
          <p:cNvSpPr/>
          <p:nvPr/>
        </p:nvSpPr>
        <p:spPr>
          <a:xfrm>
            <a:off x="3945694" y="3463491"/>
            <a:ext cx="1709812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64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SYNTHESIZE</a:t>
            </a:r>
            <a:endParaRPr lang="en-US" sz="1069" dirty="0"/>
          </a:p>
        </p:txBody>
      </p:sp>
      <p:sp>
        <p:nvSpPr>
          <p:cNvPr id="52" name="Text 42"/>
          <p:cNvSpPr/>
          <p:nvPr/>
        </p:nvSpPr>
        <p:spPr>
          <a:xfrm>
            <a:off x="3488494" y="3829608"/>
            <a:ext cx="216701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Hive generates a combined verdict and one consolidated answer.</a:t>
            </a:r>
            <a:endParaRPr lang="en-US" sz="800" dirty="0"/>
          </a:p>
        </p:txBody>
      </p:sp>
      <p:sp>
        <p:nvSpPr>
          <p:cNvPr id="53" name="Text 43"/>
          <p:cNvSpPr/>
          <p:nvPr/>
        </p:nvSpPr>
        <p:spPr>
          <a:xfrm>
            <a:off x="5819812" y="3754599"/>
            <a:ext cx="125016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4"/>
          <p:cNvSpPr/>
          <p:nvPr/>
        </p:nvSpPr>
        <p:spPr>
          <a:xfrm>
            <a:off x="5944828" y="3697449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1F1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95" dirty="0"/>
          </a:p>
        </p:txBody>
      </p:sp>
      <p:sp>
        <p:nvSpPr>
          <p:cNvPr id="55" name="Text 45"/>
          <p:cNvSpPr/>
          <p:nvPr/>
        </p:nvSpPr>
        <p:spPr>
          <a:xfrm>
            <a:off x="6066272" y="3754599"/>
            <a:ext cx="125016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6"/>
          <p:cNvSpPr/>
          <p:nvPr/>
        </p:nvSpPr>
        <p:spPr>
          <a:xfrm>
            <a:off x="6194859" y="3240249"/>
            <a:ext cx="2488369" cy="1035844"/>
          </a:xfrm>
          <a:prstGeom prst="roundRect">
            <a:avLst>
              <a:gd name="adj" fmla="val 12874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593" y="3386696"/>
            <a:ext cx="357188" cy="357188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6359165" y="3390267"/>
            <a:ext cx="350044" cy="350044"/>
          </a:xfrm>
          <a:prstGeom prst="ellipse">
            <a:avLst/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  <a:effectLst>
            <a:outerShdw sx="100000" sy="100000" kx="0" ky="0" algn="bl" rotWithShape="0" blurRad="171450" dist="50800" dir="16200000">
              <a:srgbClr val="C51F32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48"/>
          <p:cNvSpPr/>
          <p:nvPr/>
        </p:nvSpPr>
        <p:spPr>
          <a:xfrm>
            <a:off x="6494450" y="3458133"/>
            <a:ext cx="211187" cy="231458"/>
          </a:xfrm>
          <a:prstGeom prst="rect">
            <a:avLst/>
          </a:prstGeom>
          <a:noFill/>
          <a:ln/>
          <a:effectLst>
            <a:outerShdw sx="100000" sy="100000" kx="0" ky="0" algn="bl" rotWithShape="0" blurRad="133350" dist="50800" dir="16200000">
              <a:srgbClr val="FF354D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35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125" dirty="0"/>
          </a:p>
        </p:txBody>
      </p:sp>
      <p:sp>
        <p:nvSpPr>
          <p:cNvPr id="60" name="Text 49"/>
          <p:cNvSpPr/>
          <p:nvPr/>
        </p:nvSpPr>
        <p:spPr>
          <a:xfrm>
            <a:off x="6812793" y="3463491"/>
            <a:ext cx="170970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64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</a:t>
            </a:r>
            <a:endParaRPr lang="en-US" sz="1069" dirty="0"/>
          </a:p>
        </p:txBody>
      </p:sp>
      <p:sp>
        <p:nvSpPr>
          <p:cNvPr id="61" name="Text 50"/>
          <p:cNvSpPr/>
          <p:nvPr/>
        </p:nvSpPr>
        <p:spPr>
          <a:xfrm>
            <a:off x="6355593" y="3829608"/>
            <a:ext cx="21669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user inspects the result and every individual AI response.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60772" y="417909"/>
            <a:ext cx="2007059" cy="210741"/>
          </a:xfrm>
          <a:prstGeom prst="roundRect">
            <a:avLst>
              <a:gd name="adj" fmla="val 45193140"/>
            </a:avLst>
          </a:prstGeom>
          <a:solidFill>
            <a:srgbClr val="C51F32">
              <a:alpha val="8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564356" y="501848"/>
            <a:ext cx="42863" cy="42863"/>
          </a:xfrm>
          <a:prstGeom prst="ellipse">
            <a:avLst/>
          </a:prstGeom>
          <a:solidFill>
            <a:srgbClr val="FF354D"/>
          </a:solidFill>
          <a:ln/>
          <a:effectLst>
            <a:outerShdw sx="100000" sy="100000" kx="0" ky="0" algn="bl" rotWithShape="0" blurRad="76200" dist="50800" dir="16200000">
              <a:srgbClr val="FF354D">
                <a:alpha val="8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664369" y="464344"/>
            <a:ext cx="169987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9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WAYS TO USE THE HIVE</a:t>
            </a:r>
            <a:endParaRPr lang="en-US" sz="800" dirty="0"/>
          </a:p>
        </p:txBody>
      </p:sp>
      <p:sp>
        <p:nvSpPr>
          <p:cNvPr id="9" name="Text 4"/>
          <p:cNvSpPr/>
          <p:nvPr/>
        </p:nvSpPr>
        <p:spPr>
          <a:xfrm>
            <a:off x="457200" y="746522"/>
            <a:ext cx="8636000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813" b="1" spc="-28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Choose Your Intelligence Mode</a:t>
            </a:r>
            <a:endParaRPr lang="en-US" sz="2813" dirty="0"/>
          </a:p>
        </p:txBody>
      </p:sp>
      <p:sp>
        <p:nvSpPr>
          <p:cNvPr id="10" name="Text 5"/>
          <p:cNvSpPr/>
          <p:nvPr/>
        </p:nvSpPr>
        <p:spPr>
          <a:xfrm>
            <a:off x="460772" y="1493044"/>
            <a:ext cx="2612157" cy="3021806"/>
          </a:xfrm>
          <a:prstGeom prst="roundRect">
            <a:avLst>
              <a:gd name="adj" fmla="val 5105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639366" y="1657350"/>
            <a:ext cx="2254969" cy="1064419"/>
          </a:xfrm>
          <a:prstGeom prst="roundRect">
            <a:avLst>
              <a:gd name="adj" fmla="val 10738"/>
            </a:avLst>
          </a:prstGeom>
          <a:solidFill>
            <a:srgbClr val="08090D">
              <a:alpha val="55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507" y="1725216"/>
            <a:ext cx="928688" cy="9286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02507" y="1725216"/>
            <a:ext cx="928688" cy="928688"/>
          </a:xfrm>
          <a:prstGeom prst="ellipse">
            <a:avLst/>
          </a:prstGeom>
          <a:solidFill>
            <a:srgbClr val="C51F32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1463241" y="1885950"/>
            <a:ext cx="607219" cy="607219"/>
          </a:xfrm>
          <a:prstGeom prst="ellipse">
            <a:avLst/>
          </a:prstGeom>
          <a:noFill/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9694" y="2082403"/>
            <a:ext cx="214313" cy="2143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59694" y="2082403"/>
            <a:ext cx="214313" cy="214313"/>
          </a:xfrm>
          <a:prstGeom prst="roundRect">
            <a:avLst>
              <a:gd name="adj" fmla="val 44439896"/>
            </a:avLst>
          </a:prstGeom>
          <a:solidFill>
            <a:srgbClr val="C51F32"/>
          </a:solidFill>
          <a:ln/>
          <a:effectLst>
            <a:outerShdw sx="100000" sy="100000" kx="0" ky="0" algn="bl" rotWithShape="0" blurRad="209550" dist="50800" dir="16200000">
              <a:srgbClr val="C51F32">
                <a:alpha val="8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0"/>
          <p:cNvSpPr/>
          <p:nvPr/>
        </p:nvSpPr>
        <p:spPr>
          <a:xfrm>
            <a:off x="635794" y="2853928"/>
            <a:ext cx="2262113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59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SINGLE AI</a:t>
            </a:r>
            <a:endParaRPr lang="en-US" sz="1181" dirty="0"/>
          </a:p>
        </p:txBody>
      </p:sp>
      <p:sp>
        <p:nvSpPr>
          <p:cNvPr id="18" name="Text 11"/>
          <p:cNvSpPr/>
          <p:nvPr/>
        </p:nvSpPr>
        <p:spPr>
          <a:xfrm>
            <a:off x="635794" y="3136106"/>
            <a:ext cx="2262113" cy="17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F1F1F5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Ask one selected AI model.</a:t>
            </a:r>
            <a:endParaRPr lang="en-US" sz="816" dirty="0"/>
          </a:p>
        </p:txBody>
      </p:sp>
      <p:sp>
        <p:nvSpPr>
          <p:cNvPr id="19" name="Text 12"/>
          <p:cNvSpPr/>
          <p:nvPr/>
        </p:nvSpPr>
        <p:spPr>
          <a:xfrm>
            <a:off x="635794" y="3955740"/>
            <a:ext cx="2262113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635794" y="4062896"/>
            <a:ext cx="2262113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F1F1F5">
                    <a:alpha val="3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FOR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635794" y="4218273"/>
            <a:ext cx="2371841" cy="15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Quick responses and simple questions.</a:t>
            </a:r>
            <a:endParaRPr lang="en-US" sz="816" dirty="0"/>
          </a:p>
        </p:txBody>
      </p:sp>
      <p:sp>
        <p:nvSpPr>
          <p:cNvPr id="22" name="Text 15"/>
          <p:cNvSpPr/>
          <p:nvPr/>
        </p:nvSpPr>
        <p:spPr>
          <a:xfrm>
            <a:off x="3265810" y="1350169"/>
            <a:ext cx="2612268" cy="3278981"/>
          </a:xfrm>
          <a:prstGeom prst="roundRect">
            <a:avLst>
              <a:gd name="adj" fmla="val 5105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  <a:effectLst>
            <a:outerShdw sx="100000" sy="100000" kx="0" ky="0" algn="bl" rotWithShape="0" blurRad="381000" dist="50800" dir="16200000">
              <a:srgbClr val="C51F32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3444404" y="1514475"/>
            <a:ext cx="2255081" cy="1064419"/>
          </a:xfrm>
          <a:prstGeom prst="roundRect">
            <a:avLst>
              <a:gd name="adj" fmla="val 10738"/>
            </a:avLst>
          </a:prstGeom>
          <a:solidFill>
            <a:srgbClr val="08090D">
              <a:alpha val="45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3690863" y="1803797"/>
            <a:ext cx="1785938" cy="7144"/>
          </a:xfrm>
          <a:prstGeom prst="rect">
            <a:avLst/>
          </a:prstGeom>
          <a:solidFill>
            <a:srgbClr val="C51F32">
              <a:alpha val="3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3690863" y="2318147"/>
            <a:ext cx="1785938" cy="7144"/>
          </a:xfrm>
          <a:prstGeom prst="rect">
            <a:avLst/>
          </a:prstGeom>
          <a:solidFill>
            <a:srgbClr val="C51F32">
              <a:alpha val="3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3690863" y="1803797"/>
            <a:ext cx="7144" cy="521494"/>
          </a:xfrm>
          <a:prstGeom prst="rect">
            <a:avLst/>
          </a:prstGeom>
          <a:solidFill>
            <a:srgbClr val="C51F32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4583832" y="1803797"/>
            <a:ext cx="7144" cy="521494"/>
          </a:xfrm>
          <a:prstGeom prst="rect">
            <a:avLst/>
          </a:prstGeom>
          <a:solidFill>
            <a:srgbClr val="C51F32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5476801" y="1803797"/>
            <a:ext cx="7144" cy="521494"/>
          </a:xfrm>
          <a:prstGeom prst="rect">
            <a:avLst/>
          </a:prstGeom>
          <a:solidFill>
            <a:srgbClr val="C51F32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6569" y="1739503"/>
            <a:ext cx="128588" cy="12858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626569" y="1739503"/>
            <a:ext cx="128588" cy="128588"/>
          </a:xfrm>
          <a:prstGeom prst="roundRect">
            <a:avLst>
              <a:gd name="adj" fmla="val 74066379"/>
            </a:avLst>
          </a:prstGeom>
          <a:solidFill>
            <a:srgbClr val="C51F32"/>
          </a:solidFill>
          <a:ln/>
          <a:effectLst>
            <a:outerShdw sx="100000" sy="100000" kx="0" ky="0" algn="bl" rotWithShape="0" blurRad="114300" dist="50800" dir="16200000">
              <a:srgbClr val="FF354D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2394" y="1732359"/>
            <a:ext cx="142875" cy="14287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512394" y="1732359"/>
            <a:ext cx="142875" cy="142875"/>
          </a:xfrm>
          <a:prstGeom prst="roundRect">
            <a:avLst>
              <a:gd name="adj" fmla="val 66660000"/>
            </a:avLst>
          </a:prstGeom>
          <a:solidFill>
            <a:srgbClr val="7557B7"/>
          </a:solidFill>
          <a:ln/>
          <a:effectLst>
            <a:outerShdw sx="100000" sy="100000" kx="0" ky="0" algn="bl" rotWithShape="0" blurRad="114300" dist="50800" dir="16200000">
              <a:srgbClr val="7557B7">
                <a:alpha val="6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2507" y="1739503"/>
            <a:ext cx="128588" cy="12858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412507" y="1739503"/>
            <a:ext cx="128588" cy="128588"/>
          </a:xfrm>
          <a:prstGeom prst="roundRect">
            <a:avLst>
              <a:gd name="adj" fmla="val 74066379"/>
            </a:avLst>
          </a:prstGeom>
          <a:solidFill>
            <a:srgbClr val="C51F32"/>
          </a:solidFill>
          <a:ln/>
          <a:effectLst>
            <a:outerShdw sx="100000" sy="100000" kx="0" ky="0" algn="bl" rotWithShape="0" blurRad="114300" dist="50800" dir="16200000">
              <a:srgbClr val="FF354D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6569" y="2253853"/>
            <a:ext cx="128588" cy="12858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626569" y="2253853"/>
            <a:ext cx="128588" cy="128588"/>
          </a:xfrm>
          <a:prstGeom prst="roundRect">
            <a:avLst>
              <a:gd name="adj" fmla="val 74066379"/>
            </a:avLst>
          </a:prstGeom>
          <a:solidFill>
            <a:srgbClr val="C51F32"/>
          </a:solidFill>
          <a:ln/>
          <a:effectLst>
            <a:outerShdw sx="100000" sy="100000" kx="0" ky="0" algn="bl" rotWithShape="0" blurRad="114300" dist="50800" dir="16200000">
              <a:srgbClr val="FF354D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9538" y="2253853"/>
            <a:ext cx="128588" cy="12858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4519538" y="2253853"/>
            <a:ext cx="128588" cy="128588"/>
          </a:xfrm>
          <a:prstGeom prst="roundRect">
            <a:avLst>
              <a:gd name="adj" fmla="val 74066379"/>
            </a:avLst>
          </a:prstGeom>
          <a:solidFill>
            <a:srgbClr val="C51F32"/>
          </a:solidFill>
          <a:ln/>
          <a:effectLst>
            <a:outerShdw sx="100000" sy="100000" kx="0" ky="0" algn="bl" rotWithShape="0" blurRad="114300" dist="50800" dir="16200000">
              <a:srgbClr val="FF354D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12507" y="2253853"/>
            <a:ext cx="128588" cy="128588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5412507" y="2253853"/>
            <a:ext cx="128588" cy="128588"/>
          </a:xfrm>
          <a:prstGeom prst="roundRect">
            <a:avLst>
              <a:gd name="adj" fmla="val 74066379"/>
            </a:avLst>
          </a:prstGeom>
          <a:solidFill>
            <a:srgbClr val="C51F32"/>
          </a:solidFill>
          <a:ln/>
          <a:effectLst>
            <a:outerShdw sx="100000" sy="100000" kx="0" ky="0" algn="bl" rotWithShape="0" blurRad="114300" dist="50800" dir="16200000">
              <a:srgbClr val="FF354D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28"/>
          <p:cNvSpPr/>
          <p:nvPr/>
        </p:nvSpPr>
        <p:spPr>
          <a:xfrm>
            <a:off x="3440832" y="2711053"/>
            <a:ext cx="1635584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59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COUNCIL</a:t>
            </a:r>
            <a:endParaRPr lang="en-US" sz="1181" dirty="0"/>
          </a:p>
        </p:txBody>
      </p:sp>
      <p:sp>
        <p:nvSpPr>
          <p:cNvPr id="42" name="Text 29"/>
          <p:cNvSpPr/>
          <p:nvPr/>
        </p:nvSpPr>
        <p:spPr>
          <a:xfrm>
            <a:off x="5067843" y="2726555"/>
            <a:ext cx="658073" cy="194024"/>
          </a:xfrm>
          <a:prstGeom prst="roundRect">
            <a:avLst>
              <a:gd name="adj" fmla="val 49086956"/>
            </a:avLst>
          </a:prstGeom>
          <a:solidFill>
            <a:srgbClr val="C51F32">
              <a:alpha val="14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0"/>
          <p:cNvSpPr/>
          <p:nvPr/>
        </p:nvSpPr>
        <p:spPr>
          <a:xfrm>
            <a:off x="5081778" y="2736949"/>
            <a:ext cx="63020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96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FLAGSHIP</a:t>
            </a:r>
            <a:endParaRPr lang="en-US" sz="800" dirty="0"/>
          </a:p>
        </p:txBody>
      </p:sp>
      <p:sp>
        <p:nvSpPr>
          <p:cNvPr id="44" name="Text 31"/>
          <p:cNvSpPr/>
          <p:nvPr/>
        </p:nvSpPr>
        <p:spPr>
          <a:xfrm>
            <a:off x="3440832" y="2993231"/>
            <a:ext cx="2371953" cy="1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F1F1F5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Ask every available AI model simultaneously.</a:t>
            </a:r>
            <a:endParaRPr lang="en-US" sz="816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40832" y="4070040"/>
            <a:ext cx="2262225" cy="7144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3440832" y="4177196"/>
            <a:ext cx="2262225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F1F1F5">
                    <a:alpha val="3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FOR</a:t>
            </a:r>
            <a:endParaRPr lang="en-US" sz="800" dirty="0"/>
          </a:p>
        </p:txBody>
      </p:sp>
      <p:sp>
        <p:nvSpPr>
          <p:cNvPr id="47" name="Text 33"/>
          <p:cNvSpPr/>
          <p:nvPr/>
        </p:nvSpPr>
        <p:spPr>
          <a:xfrm>
            <a:off x="3440832" y="4332573"/>
            <a:ext cx="2371953" cy="15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Broad comparisons and multiple perspectives.</a:t>
            </a:r>
            <a:endParaRPr lang="en-US" sz="816" dirty="0"/>
          </a:p>
        </p:txBody>
      </p:sp>
      <p:sp>
        <p:nvSpPr>
          <p:cNvPr id="48" name="Text 34"/>
          <p:cNvSpPr/>
          <p:nvPr/>
        </p:nvSpPr>
        <p:spPr>
          <a:xfrm>
            <a:off x="6070960" y="1493044"/>
            <a:ext cx="2612268" cy="3021806"/>
          </a:xfrm>
          <a:prstGeom prst="roundRect">
            <a:avLst>
              <a:gd name="adj" fmla="val 5105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35"/>
          <p:cNvSpPr/>
          <p:nvPr/>
        </p:nvSpPr>
        <p:spPr>
          <a:xfrm>
            <a:off x="6249553" y="1657350"/>
            <a:ext cx="2255081" cy="1064419"/>
          </a:xfrm>
          <a:prstGeom prst="roundRect">
            <a:avLst>
              <a:gd name="adj" fmla="val 10738"/>
            </a:avLst>
          </a:prstGeom>
          <a:solidFill>
            <a:srgbClr val="08090D">
              <a:alpha val="55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36"/>
          <p:cNvSpPr/>
          <p:nvPr/>
        </p:nvSpPr>
        <p:spPr>
          <a:xfrm>
            <a:off x="6867488" y="2075259"/>
            <a:ext cx="871538" cy="7144"/>
          </a:xfrm>
          <a:prstGeom prst="rect">
            <a:avLst/>
          </a:prstGeom>
          <a:solidFill>
            <a:srgbClr val="F1F1F5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8907" y="1996678"/>
            <a:ext cx="157163" cy="157163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6788907" y="1996678"/>
            <a:ext cx="157163" cy="157163"/>
          </a:xfrm>
          <a:prstGeom prst="roundRect">
            <a:avLst>
              <a:gd name="adj" fmla="val 60599807"/>
            </a:avLst>
          </a:prstGeom>
          <a:solidFill>
            <a:srgbClr val="C51F32"/>
          </a:solidFill>
          <a:ln/>
          <a:effectLst>
            <a:outerShdw sx="100000" sy="100000" kx="0" ky="0" algn="bl" rotWithShape="0" blurRad="152400" dist="50800" dir="16200000">
              <a:srgbClr val="C51F32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81875" y="2018109"/>
            <a:ext cx="114300" cy="114300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7681875" y="2018109"/>
            <a:ext cx="114300" cy="114300"/>
          </a:xfrm>
          <a:prstGeom prst="roundRect">
            <a:avLst>
              <a:gd name="adj" fmla="val 83325000"/>
            </a:avLst>
          </a:prstGeom>
          <a:solidFill>
            <a:srgbClr val="7557B7"/>
          </a:solidFill>
          <a:ln/>
          <a:effectLst>
            <a:outerShdw sx="100000" sy="100000" kx="0" ky="0" algn="bl" rotWithShape="0" blurRad="114300" dist="50800" dir="16200000">
              <a:srgbClr val="7557B7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53175" y="2418159"/>
            <a:ext cx="114300" cy="114300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6653175" y="2418159"/>
            <a:ext cx="114300" cy="114300"/>
          </a:xfrm>
          <a:prstGeom prst="roundRect">
            <a:avLst>
              <a:gd name="adj" fmla="val 83325000"/>
            </a:avLst>
          </a:prstGeom>
          <a:solidFill>
            <a:srgbClr val="F1F1F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96138" y="2446734"/>
            <a:ext cx="85725" cy="85725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7496138" y="2446734"/>
            <a:ext cx="85725" cy="85725"/>
          </a:xfrm>
          <a:prstGeom prst="roundRect">
            <a:avLst>
              <a:gd name="adj" fmla="val 111100000"/>
            </a:avLst>
          </a:prstGeom>
          <a:solidFill>
            <a:srgbClr val="F1F1F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41"/>
          <p:cNvSpPr/>
          <p:nvPr/>
        </p:nvSpPr>
        <p:spPr>
          <a:xfrm>
            <a:off x="6245982" y="2853928"/>
            <a:ext cx="2262225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59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 MIX</a:t>
            </a:r>
            <a:endParaRPr lang="en-US" sz="1181" dirty="0"/>
          </a:p>
        </p:txBody>
      </p:sp>
      <p:sp>
        <p:nvSpPr>
          <p:cNvPr id="60" name="Text 42"/>
          <p:cNvSpPr/>
          <p:nvPr/>
        </p:nvSpPr>
        <p:spPr>
          <a:xfrm>
            <a:off x="6245982" y="3136106"/>
            <a:ext cx="2371953" cy="1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F1F1F5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Select the AI models you want to consult.</a:t>
            </a:r>
            <a:endParaRPr lang="en-US" sz="816" dirty="0"/>
          </a:p>
        </p:txBody>
      </p:sp>
      <p:sp>
        <p:nvSpPr>
          <p:cNvPr id="61" name="Text 43"/>
          <p:cNvSpPr/>
          <p:nvPr/>
        </p:nvSpPr>
        <p:spPr>
          <a:xfrm>
            <a:off x="6245982" y="3955740"/>
            <a:ext cx="2262225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44"/>
          <p:cNvSpPr/>
          <p:nvPr/>
        </p:nvSpPr>
        <p:spPr>
          <a:xfrm>
            <a:off x="6245982" y="4062896"/>
            <a:ext cx="2262225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30" kern="0" dirty="0">
                <a:solidFill>
                  <a:srgbClr val="F1F1F5">
                    <a:alpha val="3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FOR</a:t>
            </a:r>
            <a:endParaRPr lang="en-US" sz="800" dirty="0"/>
          </a:p>
        </p:txBody>
      </p:sp>
      <p:sp>
        <p:nvSpPr>
          <p:cNvPr id="63" name="Text 45"/>
          <p:cNvSpPr/>
          <p:nvPr/>
        </p:nvSpPr>
        <p:spPr>
          <a:xfrm>
            <a:off x="6245982" y="4218273"/>
            <a:ext cx="2371953" cy="15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Flexible, task-specific comparisons.</a:t>
            </a:r>
            <a:endParaRPr lang="en-US" sz="81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34340" y="387248"/>
            <a:ext cx="1875190" cy="243488"/>
          </a:xfrm>
          <a:prstGeom prst="roundRect">
            <a:avLst>
              <a:gd name="adj" fmla="val 39115059"/>
            </a:avLst>
          </a:prstGeom>
          <a:solidFill>
            <a:srgbClr val="C51F32">
              <a:alpha val="8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564356" y="487561"/>
            <a:ext cx="42863" cy="42863"/>
          </a:xfrm>
          <a:prstGeom prst="ellipse">
            <a:avLst/>
          </a:prstGeom>
          <a:solidFill>
            <a:srgbClr val="FF354D"/>
          </a:solidFill>
          <a:ln/>
          <a:effectLst>
            <a:outerShdw sx="100000" sy="100000" kx="0" ky="0" algn="bl" rotWithShape="0" blurRad="76200" dist="50800" dir="16200000">
              <a:srgbClr val="FF354D">
                <a:alpha val="8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664369" y="450056"/>
            <a:ext cx="151514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149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SIDE-BY-SIDE COMPARISON</a:t>
            </a:r>
            <a:endParaRPr lang="en-US" sz="619" dirty="0"/>
          </a:p>
        </p:txBody>
      </p:sp>
      <p:sp>
        <p:nvSpPr>
          <p:cNvPr id="9" name="Text 4"/>
          <p:cNvSpPr/>
          <p:nvPr/>
        </p:nvSpPr>
        <p:spPr>
          <a:xfrm>
            <a:off x="457200" y="732234"/>
            <a:ext cx="8636000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813" b="1" spc="-28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AI Gets a Voice</a:t>
            </a:r>
            <a:endParaRPr lang="en-US" sz="2813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18022"/>
            <a:ext cx="8229600" cy="274498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60772" y="1321594"/>
            <a:ext cx="8222456" cy="2737842"/>
          </a:xfrm>
          <a:prstGeom prst="roundRect">
            <a:avLst>
              <a:gd name="adj" fmla="val 5566"/>
            </a:avLst>
          </a:prstGeom>
          <a:noFill/>
          <a:ln w="7144">
            <a:solidFill>
              <a:srgbClr val="F1F1F5"/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621506" y="1447502"/>
            <a:ext cx="57150" cy="57150"/>
          </a:xfrm>
          <a:prstGeom prst="ellipse">
            <a:avLst/>
          </a:prstGeom>
          <a:solidFill>
            <a:srgbClr val="F1F1F5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721519" y="1447502"/>
            <a:ext cx="57150" cy="57150"/>
          </a:xfrm>
          <a:prstGeom prst="ellipse">
            <a:avLst/>
          </a:prstGeom>
          <a:solidFill>
            <a:srgbClr val="F1F1F5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821531" y="1447502"/>
            <a:ext cx="57150" cy="57150"/>
          </a:xfrm>
          <a:prstGeom prst="ellipse">
            <a:avLst/>
          </a:prstGeom>
          <a:solidFill>
            <a:srgbClr val="F1F1F5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7130579" y="1425178"/>
            <a:ext cx="15688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spc="96" kern="0" dirty="0">
                <a:solidFill>
                  <a:srgbClr val="F1F1F5">
                    <a:alpha val="3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HIVE MIND · COMPARISON VIEW</a:t>
            </a:r>
            <a:endParaRPr lang="en-US" sz="600" dirty="0"/>
          </a:p>
        </p:txBody>
      </p:sp>
      <p:sp>
        <p:nvSpPr>
          <p:cNvPr id="16" name="Text 10"/>
          <p:cNvSpPr/>
          <p:nvPr/>
        </p:nvSpPr>
        <p:spPr>
          <a:xfrm>
            <a:off x="625078" y="1616273"/>
            <a:ext cx="7893844" cy="392906"/>
          </a:xfrm>
          <a:prstGeom prst="roundRect">
            <a:avLst>
              <a:gd name="adj" fmla="val 24240015"/>
            </a:avLst>
          </a:prstGeom>
          <a:solidFill>
            <a:srgbClr val="08090D">
              <a:alpha val="65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771525" y="17484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18" name="Text 12"/>
          <p:cNvSpPr/>
          <p:nvPr/>
        </p:nvSpPr>
        <p:spPr>
          <a:xfrm>
            <a:off x="985838" y="1732359"/>
            <a:ext cx="71437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1F5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Which laptop specifications matter most for a computer science student?</a:t>
            </a:r>
            <a:endParaRPr lang="en-US" sz="844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2450" y="1669852"/>
            <a:ext cx="285750" cy="2857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29600" y="172700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625078" y="2130623"/>
            <a:ext cx="2550319" cy="1778794"/>
          </a:xfrm>
          <a:prstGeom prst="roundRect">
            <a:avLst>
              <a:gd name="adj" fmla="val 6426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757238" y="2292251"/>
            <a:ext cx="71438" cy="71438"/>
          </a:xfrm>
          <a:prstGeom prst="ellipse">
            <a:avLst/>
          </a:prstGeom>
          <a:solidFill>
            <a:srgbClr val="FF354D"/>
          </a:solidFill>
          <a:ln/>
          <a:effectLst>
            <a:outerShdw sx="100000" sy="100000" kx="0" ky="0" algn="bl" rotWithShape="0" blurRad="95250" dist="50800" dir="16200000">
              <a:srgbClr val="FF354D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900113" y="2258318"/>
            <a:ext cx="14827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3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MODEL A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2395746" y="2238958"/>
            <a:ext cx="670352" cy="178022"/>
          </a:xfrm>
          <a:prstGeom prst="roundRect">
            <a:avLst>
              <a:gd name="adj" fmla="val 53499273"/>
            </a:avLst>
          </a:prstGeom>
          <a:noFill/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2310318" y="2248495"/>
            <a:ext cx="84120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F1F1F5">
                    <a:alpha val="3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Perspective 1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757238" y="2493169"/>
            <a:ext cx="2286000" cy="355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00" dirty="0">
                <a:solidFill>
                  <a:srgbClr val="F1F1F5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Prioritize a fast SSD and 16 GB of RAM — compile times and virtual machines live or die by them.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757238" y="3627239"/>
            <a:ext cx="2286000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757238" y="370582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1F1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👍</a:t>
            </a:r>
            <a:endParaRPr lang="en-US" sz="1125" dirty="0"/>
          </a:p>
        </p:txBody>
      </p:sp>
      <p:sp>
        <p:nvSpPr>
          <p:cNvPr id="29" name="Text 22"/>
          <p:cNvSpPr/>
          <p:nvPr/>
        </p:nvSpPr>
        <p:spPr>
          <a:xfrm>
            <a:off x="985838" y="370582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1F1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⎘</a:t>
            </a:r>
            <a:endParaRPr lang="en-US" sz="1125" dirty="0"/>
          </a:p>
        </p:txBody>
      </p:sp>
      <p:sp>
        <p:nvSpPr>
          <p:cNvPr id="30" name="Text 23"/>
          <p:cNvSpPr/>
          <p:nvPr/>
        </p:nvSpPr>
        <p:spPr>
          <a:xfrm>
            <a:off x="1214438" y="370582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1F1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125" dirty="0"/>
          </a:p>
        </p:txBody>
      </p:sp>
      <p:sp>
        <p:nvSpPr>
          <p:cNvPr id="31" name="Text 24"/>
          <p:cNvSpPr/>
          <p:nvPr/>
        </p:nvSpPr>
        <p:spPr>
          <a:xfrm>
            <a:off x="3296841" y="2130623"/>
            <a:ext cx="2550319" cy="1778794"/>
          </a:xfrm>
          <a:prstGeom prst="roundRect">
            <a:avLst>
              <a:gd name="adj" fmla="val 6426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3429000" y="2292251"/>
            <a:ext cx="71438" cy="71438"/>
          </a:xfrm>
          <a:prstGeom prst="ellipse">
            <a:avLst/>
          </a:prstGeom>
          <a:solidFill>
            <a:srgbClr val="7557B7"/>
          </a:solidFill>
          <a:ln/>
          <a:effectLst>
            <a:outerShdw sx="100000" sy="100000" kx="0" ky="0" algn="bl" rotWithShape="0" blurRad="95250" dist="50800" dir="16200000">
              <a:srgbClr val="7557B7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3571875" y="2258318"/>
            <a:ext cx="14827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3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MODEL B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5067508" y="2238958"/>
            <a:ext cx="670352" cy="178022"/>
          </a:xfrm>
          <a:prstGeom prst="roundRect">
            <a:avLst>
              <a:gd name="adj" fmla="val 53499273"/>
            </a:avLst>
          </a:prstGeom>
          <a:noFill/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4982080" y="2248495"/>
            <a:ext cx="84120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F1F1F5">
                    <a:alpha val="3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Perspective 2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3429000" y="2493169"/>
            <a:ext cx="2286000" cy="355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00" dirty="0">
                <a:solidFill>
                  <a:srgbClr val="F1F1F5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Battery life and weight matter most — long lab days rarely come with a power socket.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3429000" y="3627239"/>
            <a:ext cx="2286000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3429000" y="370582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1F1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👍</a:t>
            </a:r>
            <a:endParaRPr lang="en-US" sz="1125" dirty="0"/>
          </a:p>
        </p:txBody>
      </p:sp>
      <p:sp>
        <p:nvSpPr>
          <p:cNvPr id="39" name="Text 32"/>
          <p:cNvSpPr/>
          <p:nvPr/>
        </p:nvSpPr>
        <p:spPr>
          <a:xfrm>
            <a:off x="3657600" y="370582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1F1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⎘</a:t>
            </a:r>
            <a:endParaRPr lang="en-US" sz="1125" dirty="0"/>
          </a:p>
        </p:txBody>
      </p:sp>
      <p:sp>
        <p:nvSpPr>
          <p:cNvPr id="40" name="Text 33"/>
          <p:cNvSpPr/>
          <p:nvPr/>
        </p:nvSpPr>
        <p:spPr>
          <a:xfrm>
            <a:off x="3886200" y="370582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1F1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125" dirty="0"/>
          </a:p>
        </p:txBody>
      </p:sp>
      <p:sp>
        <p:nvSpPr>
          <p:cNvPr id="41" name="Text 34"/>
          <p:cNvSpPr/>
          <p:nvPr/>
        </p:nvSpPr>
        <p:spPr>
          <a:xfrm>
            <a:off x="5968603" y="2130623"/>
            <a:ext cx="2550319" cy="1778794"/>
          </a:xfrm>
          <a:prstGeom prst="roundRect">
            <a:avLst>
              <a:gd name="adj" fmla="val 6426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0763" y="2292251"/>
            <a:ext cx="71438" cy="7143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243638" y="2258318"/>
            <a:ext cx="14827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3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MODEL C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7739271" y="2238958"/>
            <a:ext cx="670352" cy="178022"/>
          </a:xfrm>
          <a:prstGeom prst="roundRect">
            <a:avLst>
              <a:gd name="adj" fmla="val 53499273"/>
            </a:avLst>
          </a:prstGeom>
          <a:noFill/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7"/>
          <p:cNvSpPr/>
          <p:nvPr/>
        </p:nvSpPr>
        <p:spPr>
          <a:xfrm>
            <a:off x="7653843" y="2248495"/>
            <a:ext cx="84120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F1F1F5">
                    <a:alpha val="3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Perspective 3</a:t>
            </a:r>
            <a:endParaRPr lang="en-US" sz="800" dirty="0"/>
          </a:p>
        </p:txBody>
      </p:sp>
      <p:sp>
        <p:nvSpPr>
          <p:cNvPr id="46" name="Text 38"/>
          <p:cNvSpPr/>
          <p:nvPr/>
        </p:nvSpPr>
        <p:spPr>
          <a:xfrm>
            <a:off x="6100763" y="2493169"/>
            <a:ext cx="2286000" cy="355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00" dirty="0">
                <a:solidFill>
                  <a:srgbClr val="F1F1F5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Balance CPU, RAM and warranty against the total cost of ownership.</a:t>
            </a:r>
            <a:endParaRPr lang="en-US" sz="800" dirty="0"/>
          </a:p>
        </p:txBody>
      </p:sp>
      <p:sp>
        <p:nvSpPr>
          <p:cNvPr id="47" name="Text 39"/>
          <p:cNvSpPr/>
          <p:nvPr/>
        </p:nvSpPr>
        <p:spPr>
          <a:xfrm>
            <a:off x="6100763" y="3627239"/>
            <a:ext cx="2286000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6100763" y="370582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1F1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👍</a:t>
            </a:r>
            <a:endParaRPr lang="en-US" sz="1125" dirty="0"/>
          </a:p>
        </p:txBody>
      </p:sp>
      <p:sp>
        <p:nvSpPr>
          <p:cNvPr id="49" name="Text 41"/>
          <p:cNvSpPr/>
          <p:nvPr/>
        </p:nvSpPr>
        <p:spPr>
          <a:xfrm>
            <a:off x="6329363" y="370582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1F1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⎘</a:t>
            </a:r>
            <a:endParaRPr lang="en-US" sz="1125" dirty="0"/>
          </a:p>
        </p:txBody>
      </p:sp>
      <p:sp>
        <p:nvSpPr>
          <p:cNvPr id="50" name="Text 42"/>
          <p:cNvSpPr/>
          <p:nvPr/>
        </p:nvSpPr>
        <p:spPr>
          <a:xfrm>
            <a:off x="6557963" y="370582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1F1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125" dirty="0"/>
          </a:p>
        </p:txBody>
      </p:sp>
      <p:sp>
        <p:nvSpPr>
          <p:cNvPr id="51" name="Text 43"/>
          <p:cNvSpPr/>
          <p:nvPr/>
        </p:nvSpPr>
        <p:spPr>
          <a:xfrm>
            <a:off x="3158430" y="4223742"/>
            <a:ext cx="2827139" cy="239316"/>
          </a:xfrm>
          <a:prstGeom prst="roundRect">
            <a:avLst>
              <a:gd name="adj" fmla="val 39796953"/>
            </a:avLst>
          </a:prstGeom>
          <a:solidFill>
            <a:srgbClr val="C51F32">
              <a:alpha val="8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4"/>
          <p:cNvSpPr/>
          <p:nvPr/>
        </p:nvSpPr>
        <p:spPr>
          <a:xfrm>
            <a:off x="3290590" y="429339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984" dirty="0"/>
          </a:p>
        </p:txBody>
      </p:sp>
      <p:sp>
        <p:nvSpPr>
          <p:cNvPr id="53" name="Text 45"/>
          <p:cNvSpPr/>
          <p:nvPr/>
        </p:nvSpPr>
        <p:spPr>
          <a:xfrm>
            <a:off x="3447752" y="4284464"/>
            <a:ext cx="251538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74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ILLUSTRATIVE EXAMPLE — not actual model output</a:t>
            </a:r>
            <a:endParaRPr lang="en-US" sz="61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34340" y="387248"/>
            <a:ext cx="1390977" cy="243488"/>
          </a:xfrm>
          <a:prstGeom prst="roundRect">
            <a:avLst>
              <a:gd name="adj" fmla="val 39115059"/>
            </a:avLst>
          </a:prstGeom>
          <a:solidFill>
            <a:srgbClr val="C51F32">
              <a:alpha val="8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564356" y="487561"/>
            <a:ext cx="42863" cy="42863"/>
          </a:xfrm>
          <a:prstGeom prst="ellipse">
            <a:avLst/>
          </a:prstGeom>
          <a:solidFill>
            <a:srgbClr val="FF354D"/>
          </a:solidFill>
          <a:ln/>
          <a:effectLst>
            <a:outerShdw sx="100000" sy="100000" kx="0" ky="0" algn="bl" rotWithShape="0" blurRad="76200" dist="50800" dir="16200000">
              <a:srgbClr val="FF354D">
                <a:alpha val="8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664369" y="450056"/>
            <a:ext cx="103093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149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HIVE VERDICT</a:t>
            </a:r>
            <a:endParaRPr lang="en-US" sz="619" dirty="0"/>
          </a:p>
        </p:txBody>
      </p:sp>
      <p:sp>
        <p:nvSpPr>
          <p:cNvPr id="9" name="Text 4"/>
          <p:cNvSpPr/>
          <p:nvPr/>
        </p:nvSpPr>
        <p:spPr>
          <a:xfrm>
            <a:off x="457200" y="732234"/>
            <a:ext cx="8636000" cy="38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5"/>
              </a:lnSpc>
              <a:buNone/>
            </a:pPr>
            <a:r>
              <a:rPr lang="en-US" sz="2588" b="1" spc="-26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Different Answers to a Clear Verdict</a:t>
            </a:r>
            <a:endParaRPr lang="en-US" sz="2588" dirty="0"/>
          </a:p>
        </p:txBody>
      </p:sp>
      <p:sp>
        <p:nvSpPr>
          <p:cNvPr id="10" name="Text 5"/>
          <p:cNvSpPr/>
          <p:nvPr/>
        </p:nvSpPr>
        <p:spPr>
          <a:xfrm>
            <a:off x="460772" y="1783593"/>
            <a:ext cx="2707481" cy="550069"/>
          </a:xfrm>
          <a:prstGeom prst="roundRect">
            <a:avLst>
              <a:gd name="adj" fmla="val 20779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607219" y="2022909"/>
            <a:ext cx="71438" cy="71438"/>
          </a:xfrm>
          <a:prstGeom prst="ellipse">
            <a:avLst/>
          </a:prstGeom>
          <a:solidFill>
            <a:srgbClr val="FF354D"/>
          </a:solidFill>
          <a:ln/>
          <a:effectLst>
            <a:outerShdw sx="100000" sy="100000" kx="0" ky="0" algn="bl" rotWithShape="0" blurRad="95250" dist="50800" dir="16200000">
              <a:srgbClr val="FF354D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764381" y="1994334"/>
            <a:ext cx="1350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F1F1F5">
                    <a:alpha val="66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A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2100456" y="1975582"/>
            <a:ext cx="978194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 SSD + RAM</a:t>
            </a:r>
            <a:endParaRPr lang="en-US" sz="872" dirty="0"/>
          </a:p>
        </p:txBody>
      </p:sp>
      <p:sp>
        <p:nvSpPr>
          <p:cNvPr id="14" name="Text 9"/>
          <p:cNvSpPr/>
          <p:nvPr/>
        </p:nvSpPr>
        <p:spPr>
          <a:xfrm>
            <a:off x="460772" y="2497968"/>
            <a:ext cx="2707481" cy="550069"/>
          </a:xfrm>
          <a:prstGeom prst="roundRect">
            <a:avLst>
              <a:gd name="adj" fmla="val 20779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07219" y="2737284"/>
            <a:ext cx="71438" cy="71438"/>
          </a:xfrm>
          <a:prstGeom prst="ellipse">
            <a:avLst/>
          </a:prstGeom>
          <a:solidFill>
            <a:srgbClr val="7557B7"/>
          </a:solidFill>
          <a:ln/>
          <a:effectLst>
            <a:outerShdw sx="100000" sy="100000" kx="0" ky="0" algn="bl" rotWithShape="0" blurRad="95250" dist="50800" dir="16200000">
              <a:srgbClr val="7557B7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764381" y="2708709"/>
            <a:ext cx="13561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F1F1F5">
                    <a:alpha val="66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B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2163440" y="2689957"/>
            <a:ext cx="858366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Battery + weight</a:t>
            </a:r>
            <a:endParaRPr lang="en-US" sz="872" dirty="0"/>
          </a:p>
        </p:txBody>
      </p:sp>
      <p:sp>
        <p:nvSpPr>
          <p:cNvPr id="18" name="Text 13"/>
          <p:cNvSpPr/>
          <p:nvPr/>
        </p:nvSpPr>
        <p:spPr>
          <a:xfrm>
            <a:off x="460772" y="3212343"/>
            <a:ext cx="2707481" cy="550069"/>
          </a:xfrm>
          <a:prstGeom prst="roundRect">
            <a:avLst>
              <a:gd name="adj" fmla="val 20779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3451659"/>
            <a:ext cx="71438" cy="714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4381" y="3423084"/>
            <a:ext cx="10881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F1F1F5">
                    <a:alpha val="66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C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1895438" y="3404332"/>
            <a:ext cx="1126368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vs spec balance</a:t>
            </a:r>
            <a:endParaRPr lang="en-US" sz="872" dirty="0"/>
          </a:p>
        </p:txBody>
      </p:sp>
      <p:sp>
        <p:nvSpPr>
          <p:cNvPr id="22" name="Text 16"/>
          <p:cNvSpPr/>
          <p:nvPr/>
        </p:nvSpPr>
        <p:spPr>
          <a:xfrm>
            <a:off x="3171825" y="2058628"/>
            <a:ext cx="392906" cy="7144"/>
          </a:xfrm>
          <a:prstGeom prst="rect">
            <a:avLst/>
          </a:prstGeom>
          <a:solidFill>
            <a:srgbClr val="C51F32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3171825" y="2773003"/>
            <a:ext cx="392906" cy="7144"/>
          </a:xfrm>
          <a:prstGeom prst="rect">
            <a:avLst/>
          </a:prstGeom>
          <a:solidFill>
            <a:srgbClr val="C51F32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3171825" y="3487378"/>
            <a:ext cx="392906" cy="7144"/>
          </a:xfrm>
          <a:prstGeom prst="rect">
            <a:avLst/>
          </a:prstGeom>
          <a:solidFill>
            <a:srgbClr val="C51F32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3564731" y="2058628"/>
            <a:ext cx="7144" cy="1428750"/>
          </a:xfrm>
          <a:prstGeom prst="rect">
            <a:avLst/>
          </a:prstGeom>
          <a:solidFill>
            <a:srgbClr val="C51F32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3550444" y="2044340"/>
            <a:ext cx="35719" cy="35719"/>
          </a:xfrm>
          <a:prstGeom prst="ellipse">
            <a:avLst/>
          </a:prstGeom>
          <a:solidFill>
            <a:srgbClr val="FF354D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3550444" y="2758715"/>
            <a:ext cx="35719" cy="35719"/>
          </a:xfrm>
          <a:prstGeom prst="ellipse">
            <a:avLst/>
          </a:prstGeom>
          <a:solidFill>
            <a:srgbClr val="FF354D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3550444" y="3473090"/>
            <a:ext cx="35719" cy="35719"/>
          </a:xfrm>
          <a:prstGeom prst="ellipse">
            <a:avLst/>
          </a:prstGeom>
          <a:solidFill>
            <a:srgbClr val="FF354D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3564731" y="2773003"/>
            <a:ext cx="192881" cy="7144"/>
          </a:xfrm>
          <a:prstGeom prst="rect">
            <a:avLst/>
          </a:prstGeom>
          <a:solidFill>
            <a:srgbClr val="C51F32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3771900" y="270870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31" name="Text 25"/>
          <p:cNvSpPr/>
          <p:nvPr/>
        </p:nvSpPr>
        <p:spPr>
          <a:xfrm>
            <a:off x="3961209" y="1362112"/>
            <a:ext cx="4722019" cy="2821781"/>
          </a:xfrm>
          <a:prstGeom prst="roundRect">
            <a:avLst>
              <a:gd name="adj" fmla="val 5401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  <a:effectLst>
            <a:outerShdw sx="100000" sy="100000" kx="0" ky="0" algn="bl" rotWithShape="0" blurRad="381000" dist="50800" dir="16200000">
              <a:srgbClr val="C51F32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182666" y="1554993"/>
            <a:ext cx="292894" cy="292894"/>
          </a:xfrm>
          <a:prstGeom prst="ellipse">
            <a:avLst/>
          </a:prstGeom>
          <a:solidFill>
            <a:srgbClr val="C51F32">
              <a:alpha val="18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4220349" y="1592677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77" dirty="0"/>
          </a:p>
        </p:txBody>
      </p:sp>
      <p:sp>
        <p:nvSpPr>
          <p:cNvPr id="34" name="Text 28"/>
          <p:cNvSpPr/>
          <p:nvPr/>
        </p:nvSpPr>
        <p:spPr>
          <a:xfrm>
            <a:off x="4579144" y="1583568"/>
            <a:ext cx="388620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74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HIVE VERDICT</a:t>
            </a:r>
            <a:endParaRPr lang="en-US" sz="1238" dirty="0"/>
          </a:p>
        </p:txBody>
      </p:sp>
      <p:sp>
        <p:nvSpPr>
          <p:cNvPr id="35" name="Text 29"/>
          <p:cNvSpPr/>
          <p:nvPr/>
        </p:nvSpPr>
        <p:spPr>
          <a:xfrm>
            <a:off x="4179094" y="198004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36" name="Text 30"/>
          <p:cNvSpPr/>
          <p:nvPr/>
        </p:nvSpPr>
        <p:spPr>
          <a:xfrm>
            <a:off x="4357688" y="1965759"/>
            <a:ext cx="4107656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Agreements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where models converge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4179094" y="2189336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38" name="Text 32"/>
          <p:cNvSpPr/>
          <p:nvPr/>
        </p:nvSpPr>
        <p:spPr>
          <a:xfrm>
            <a:off x="4357688" y="2175049"/>
            <a:ext cx="4107656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Differences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where answers diverge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4179094" y="2398626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40" name="Text 34"/>
          <p:cNvSpPr/>
          <p:nvPr/>
        </p:nvSpPr>
        <p:spPr>
          <a:xfrm>
            <a:off x="4357688" y="2384338"/>
            <a:ext cx="4107656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Insights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what comparison reveals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4179094" y="2607915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42" name="Text 36"/>
          <p:cNvSpPr/>
          <p:nvPr/>
        </p:nvSpPr>
        <p:spPr>
          <a:xfrm>
            <a:off x="4357688" y="2593628"/>
            <a:ext cx="4107656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Recommendation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what the combined answer supports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4179094" y="2817205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44" name="Text 38"/>
          <p:cNvSpPr/>
          <p:nvPr/>
        </p:nvSpPr>
        <p:spPr>
          <a:xfrm>
            <a:off x="4357688" y="2802917"/>
            <a:ext cx="4107656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Verification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what still needs checking</a:t>
            </a:r>
            <a:endParaRPr lang="en-US" sz="80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9094" y="3544528"/>
            <a:ext cx="4286250" cy="7144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4179094" y="3651684"/>
            <a:ext cx="428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i="1" dirty="0">
                <a:solidFill>
                  <a:srgbClr val="FF354D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</a:t>
            </a:r>
            <a:pPr algn="l" indent="0" marL="0">
              <a:lnSpc>
                <a:spcPts val="1350"/>
              </a:lnSpc>
              <a:buNone/>
            </a:pPr>
            <a:r>
              <a:rPr lang="en-US" sz="844" i="1" dirty="0">
                <a:solidFill>
                  <a:srgbClr val="F1F1F5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Prioritize sufficient RAM, a fast SSD and reliable battery life. The best configuration depends on your workload and budget.</a:t>
            </a:r>
            <a:pPr algn="l" indent="0" marL="0">
              <a:lnSpc>
                <a:spcPts val="1350"/>
              </a:lnSpc>
              <a:buNone/>
            </a:pPr>
            <a:r>
              <a:rPr lang="en-US" sz="844" i="1" dirty="0">
                <a:solidFill>
                  <a:srgbClr val="FF354D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”</a:t>
            </a:r>
            <a:endParaRPr lang="en-US" sz="844" dirty="0"/>
          </a:p>
        </p:txBody>
      </p:sp>
      <p:sp>
        <p:nvSpPr>
          <p:cNvPr id="47" name="Text 40"/>
          <p:cNvSpPr/>
          <p:nvPr/>
        </p:nvSpPr>
        <p:spPr>
          <a:xfrm>
            <a:off x="457200" y="440177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26" kern="0" dirty="0">
                <a:solidFill>
                  <a:srgbClr val="F1F1F5">
                    <a:alpha val="3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Agreement between models indicates consensus — not proof.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972300" y="585788"/>
            <a:ext cx="1071563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329488" y="871538"/>
            <a:ext cx="1214438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75" y="535781"/>
            <a:ext cx="78581" cy="7858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886575" y="535781"/>
            <a:ext cx="78581" cy="78581"/>
          </a:xfrm>
          <a:prstGeom prst="roundRect">
            <a:avLst>
              <a:gd name="adj" fmla="val 121200386"/>
            </a:avLst>
          </a:prstGeom>
          <a:solidFill>
            <a:srgbClr val="C51F32"/>
          </a:solidFill>
          <a:ln/>
          <a:effectLst>
            <a:outerShdw sx="100000" sy="100000" kx="0" ky="0" algn="bl" rotWithShape="0" blurRad="114300" dist="50800" dir="16200000">
              <a:srgbClr val="C51F32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8486775" y="828675"/>
            <a:ext cx="57150" cy="571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486775" y="828675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4"/>
          <p:cNvSpPr/>
          <p:nvPr/>
        </p:nvSpPr>
        <p:spPr>
          <a:xfrm>
            <a:off x="434340" y="315811"/>
            <a:ext cx="1813798" cy="248845"/>
          </a:xfrm>
          <a:prstGeom prst="roundRect">
            <a:avLst>
              <a:gd name="adj" fmla="val 38273011"/>
            </a:avLst>
          </a:prstGeom>
          <a:solidFill>
            <a:srgbClr val="C51F32">
              <a:alpha val="8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457200" y="328613"/>
            <a:ext cx="1768078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116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HIVE MIND CHANGES</a:t>
            </a:r>
            <a:endParaRPr lang="en-US" sz="800" dirty="0"/>
          </a:p>
        </p:txBody>
      </p:sp>
      <p:sp>
        <p:nvSpPr>
          <p:cNvPr id="12" name="Text 6"/>
          <p:cNvSpPr/>
          <p:nvPr/>
        </p:nvSpPr>
        <p:spPr>
          <a:xfrm>
            <a:off x="457200" y="651867"/>
            <a:ext cx="8636000" cy="405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3"/>
              </a:lnSpc>
              <a:buNone/>
            </a:pPr>
            <a:r>
              <a:rPr lang="en-US" sz="2813" b="1" spc="28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It Matters</a:t>
            </a:r>
            <a:endParaRPr lang="en-US" sz="2813" dirty="0"/>
          </a:p>
        </p:txBody>
      </p:sp>
      <p:sp>
        <p:nvSpPr>
          <p:cNvPr id="13" name="Text 7"/>
          <p:cNvSpPr/>
          <p:nvPr/>
        </p:nvSpPr>
        <p:spPr>
          <a:xfrm>
            <a:off x="460772" y="1230511"/>
            <a:ext cx="2640732" cy="1736824"/>
          </a:xfrm>
          <a:prstGeom prst="roundRect">
            <a:avLst>
              <a:gd name="adj" fmla="val 7678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653653" y="1409105"/>
            <a:ext cx="321469" cy="321469"/>
          </a:xfrm>
          <a:prstGeom prst="roundRect">
            <a:avLst>
              <a:gd name="adj" fmla="val 35556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690086" y="144553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6" name="Text 10"/>
          <p:cNvSpPr/>
          <p:nvPr/>
        </p:nvSpPr>
        <p:spPr>
          <a:xfrm>
            <a:off x="2768896" y="1405533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F1F1F5">
                    <a:alpha val="3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17" name="Text 11"/>
          <p:cNvSpPr/>
          <p:nvPr/>
        </p:nvSpPr>
        <p:spPr>
          <a:xfrm>
            <a:off x="650081" y="2210991"/>
            <a:ext cx="226211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spc="11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question, many minds</a:t>
            </a:r>
            <a:endParaRPr lang="en-US" sz="1125" dirty="0"/>
          </a:p>
        </p:txBody>
      </p:sp>
      <p:sp>
        <p:nvSpPr>
          <p:cNvPr id="18" name="Text 12"/>
          <p:cNvSpPr/>
          <p:nvPr/>
        </p:nvSpPr>
        <p:spPr>
          <a:xfrm>
            <a:off x="650081" y="2482453"/>
            <a:ext cx="226211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Ask once; every selected model answers in parallel.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3251522" y="1230511"/>
            <a:ext cx="2640843" cy="1736824"/>
          </a:xfrm>
          <a:prstGeom prst="roundRect">
            <a:avLst>
              <a:gd name="adj" fmla="val 7678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3444404" y="1409105"/>
            <a:ext cx="321469" cy="321469"/>
          </a:xfrm>
          <a:prstGeom prst="roundRect">
            <a:avLst>
              <a:gd name="adj" fmla="val 35556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3480837" y="144553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22" name="Text 16"/>
          <p:cNvSpPr/>
          <p:nvPr/>
        </p:nvSpPr>
        <p:spPr>
          <a:xfrm>
            <a:off x="5559758" y="1405533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F1F1F5">
                    <a:alpha val="3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23" name="Text 17"/>
          <p:cNvSpPr/>
          <p:nvPr/>
        </p:nvSpPr>
        <p:spPr>
          <a:xfrm>
            <a:off x="3440832" y="2210991"/>
            <a:ext cx="2262225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spc="11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tab-switching</a:t>
            </a:r>
            <a:endParaRPr lang="en-US" sz="1125" dirty="0"/>
          </a:p>
        </p:txBody>
      </p:sp>
      <p:sp>
        <p:nvSpPr>
          <p:cNvPr id="24" name="Text 18"/>
          <p:cNvSpPr/>
          <p:nvPr/>
        </p:nvSpPr>
        <p:spPr>
          <a:xfrm>
            <a:off x="3440832" y="2482453"/>
            <a:ext cx="226222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perspectives land in one dashboard, side by side.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6042385" y="1230511"/>
            <a:ext cx="2640732" cy="1736824"/>
          </a:xfrm>
          <a:prstGeom prst="roundRect">
            <a:avLst>
              <a:gd name="adj" fmla="val 7678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235266" y="1409105"/>
            <a:ext cx="321469" cy="321469"/>
          </a:xfrm>
          <a:prstGeom prst="roundRect">
            <a:avLst>
              <a:gd name="adj" fmla="val 35556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6271699" y="144553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688" dirty="0"/>
          </a:p>
        </p:txBody>
      </p:sp>
      <p:sp>
        <p:nvSpPr>
          <p:cNvPr id="28" name="Text 22"/>
          <p:cNvSpPr/>
          <p:nvPr/>
        </p:nvSpPr>
        <p:spPr>
          <a:xfrm>
            <a:off x="8350509" y="1405533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F1F1F5">
                    <a:alpha val="3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29" name="Text 23"/>
          <p:cNvSpPr/>
          <p:nvPr/>
        </p:nvSpPr>
        <p:spPr>
          <a:xfrm>
            <a:off x="6231694" y="2210991"/>
            <a:ext cx="226211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spc="11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Transparent verdicts</a:t>
            </a:r>
            <a:endParaRPr lang="en-US" sz="1125" dirty="0"/>
          </a:p>
        </p:txBody>
      </p:sp>
      <p:sp>
        <p:nvSpPr>
          <p:cNvPr id="30" name="Text 24"/>
          <p:cNvSpPr/>
          <p:nvPr/>
        </p:nvSpPr>
        <p:spPr>
          <a:xfrm>
            <a:off x="6231694" y="2482453"/>
            <a:ext cx="226211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combined answer shows the reasoning behind it.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460772" y="3117354"/>
            <a:ext cx="2640732" cy="1736824"/>
          </a:xfrm>
          <a:prstGeom prst="roundRect">
            <a:avLst>
              <a:gd name="adj" fmla="val 7678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653653" y="3295948"/>
            <a:ext cx="321469" cy="321469"/>
          </a:xfrm>
          <a:prstGeom prst="roundRect">
            <a:avLst>
              <a:gd name="adj" fmla="val 35556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690086" y="333238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688" dirty="0"/>
          </a:p>
        </p:txBody>
      </p:sp>
      <p:sp>
        <p:nvSpPr>
          <p:cNvPr id="34" name="Text 28"/>
          <p:cNvSpPr/>
          <p:nvPr/>
        </p:nvSpPr>
        <p:spPr>
          <a:xfrm>
            <a:off x="2768896" y="3292376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F1F1F5">
                    <a:alpha val="3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35" name="Text 29"/>
          <p:cNvSpPr/>
          <p:nvPr/>
        </p:nvSpPr>
        <p:spPr>
          <a:xfrm>
            <a:off x="650081" y="4252764"/>
            <a:ext cx="226211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spc="11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Inspect everything</a:t>
            </a:r>
            <a:endParaRPr lang="en-US" sz="1125" dirty="0"/>
          </a:p>
        </p:txBody>
      </p:sp>
      <p:sp>
        <p:nvSpPr>
          <p:cNvPr id="36" name="Text 30"/>
          <p:cNvSpPr/>
          <p:nvPr/>
        </p:nvSpPr>
        <p:spPr>
          <a:xfrm>
            <a:off x="650081" y="4524226"/>
            <a:ext cx="2371841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any model's full response at any time.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3251522" y="3117354"/>
            <a:ext cx="2640843" cy="1736824"/>
          </a:xfrm>
          <a:prstGeom prst="roundRect">
            <a:avLst>
              <a:gd name="adj" fmla="val 7678"/>
            </a:avLst>
          </a:prstGeom>
          <a:solidFill>
            <a:srgbClr val="F1F1F5">
              <a:alpha val="3000"/>
            </a:srgbClr>
          </a:solidFill>
          <a:ln w="7144">
            <a:solidFill>
              <a:srgbClr val="F1F1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3444404" y="3295948"/>
            <a:ext cx="321469" cy="321469"/>
          </a:xfrm>
          <a:prstGeom prst="roundRect">
            <a:avLst>
              <a:gd name="adj" fmla="val 35556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3480837" y="333238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40" name="Text 34"/>
          <p:cNvSpPr/>
          <p:nvPr/>
        </p:nvSpPr>
        <p:spPr>
          <a:xfrm>
            <a:off x="5559758" y="3292376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F1F1F5">
                    <a:alpha val="3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731" dirty="0"/>
          </a:p>
        </p:txBody>
      </p:sp>
      <p:sp>
        <p:nvSpPr>
          <p:cNvPr id="41" name="Text 35"/>
          <p:cNvSpPr/>
          <p:nvPr/>
        </p:nvSpPr>
        <p:spPr>
          <a:xfrm>
            <a:off x="3440832" y="4097834"/>
            <a:ext cx="2262225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spc="11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Resilient workflows</a:t>
            </a:r>
            <a:endParaRPr lang="en-US" sz="1125" dirty="0"/>
          </a:p>
        </p:txBody>
      </p:sp>
      <p:sp>
        <p:nvSpPr>
          <p:cNvPr id="42" name="Text 36"/>
          <p:cNvSpPr/>
          <p:nvPr/>
        </p:nvSpPr>
        <p:spPr>
          <a:xfrm>
            <a:off x="3440832" y="4369296"/>
            <a:ext cx="226222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model down or rate-limited? The hive keeps answering.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6042385" y="3117354"/>
            <a:ext cx="2640732" cy="1736824"/>
          </a:xfrm>
          <a:prstGeom prst="roundRect">
            <a:avLst>
              <a:gd name="adj" fmla="val 7678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  <a:effectLst>
            <a:outerShdw sx="100000" sy="100000" kx="0" ky="0" algn="bl" rotWithShape="0" blurRad="381000" dist="50800" dir="16200000">
              <a:srgbClr val="C51F32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6235266" y="3295948"/>
            <a:ext cx="321469" cy="321469"/>
          </a:xfrm>
          <a:prstGeom prst="roundRect">
            <a:avLst>
              <a:gd name="adj" fmla="val 35556"/>
            </a:avLst>
          </a:prstGeom>
          <a:solidFill>
            <a:srgbClr val="C51F32">
              <a:alpha val="18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6271699" y="333238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688" dirty="0"/>
          </a:p>
        </p:txBody>
      </p:sp>
      <p:sp>
        <p:nvSpPr>
          <p:cNvPr id="46" name="Text 40"/>
          <p:cNvSpPr/>
          <p:nvPr/>
        </p:nvSpPr>
        <p:spPr>
          <a:xfrm>
            <a:off x="8350509" y="3292376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F1F1F5">
                    <a:alpha val="3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731" dirty="0"/>
          </a:p>
        </p:txBody>
      </p:sp>
      <p:sp>
        <p:nvSpPr>
          <p:cNvPr id="47" name="Text 41"/>
          <p:cNvSpPr/>
          <p:nvPr/>
        </p:nvSpPr>
        <p:spPr>
          <a:xfrm>
            <a:off x="6231694" y="4252764"/>
            <a:ext cx="226211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spc="11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Better decisions</a:t>
            </a:r>
            <a:endParaRPr lang="en-US" sz="1125" dirty="0"/>
          </a:p>
        </p:txBody>
      </p:sp>
      <p:sp>
        <p:nvSpPr>
          <p:cNvPr id="48" name="Text 42"/>
          <p:cNvSpPr/>
          <p:nvPr/>
        </p:nvSpPr>
        <p:spPr>
          <a:xfrm>
            <a:off x="6231694" y="4524226"/>
            <a:ext cx="2371841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1F1F5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Compare, verify — then trust.</a:t>
            </a:r>
            <a:endParaRPr lang="en-US" sz="800" dirty="0"/>
          </a:p>
        </p:txBody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972300" y="585788"/>
            <a:ext cx="1071563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329488" y="871538"/>
            <a:ext cx="1214438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75" y="535781"/>
            <a:ext cx="78581" cy="7858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886575" y="535781"/>
            <a:ext cx="78581" cy="78581"/>
          </a:xfrm>
          <a:prstGeom prst="roundRect">
            <a:avLst>
              <a:gd name="adj" fmla="val 121200386"/>
            </a:avLst>
          </a:prstGeom>
          <a:solidFill>
            <a:srgbClr val="C51F32"/>
          </a:solidFill>
          <a:ln/>
          <a:effectLst>
            <a:outerShdw sx="100000" sy="100000" kx="0" ky="0" algn="bl" rotWithShape="0" blurRad="114300" dist="50800" dir="16200000">
              <a:srgbClr val="C51F32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8486775" y="828675"/>
            <a:ext cx="57150" cy="571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486775" y="828675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4"/>
          <p:cNvSpPr/>
          <p:nvPr/>
        </p:nvSpPr>
        <p:spPr>
          <a:xfrm>
            <a:off x="434340" y="315811"/>
            <a:ext cx="1572250" cy="248845"/>
          </a:xfrm>
          <a:prstGeom prst="roundRect">
            <a:avLst>
              <a:gd name="adj" fmla="val 38273011"/>
            </a:avLst>
          </a:prstGeom>
          <a:solidFill>
            <a:srgbClr val="C51F32">
              <a:alpha val="8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457200" y="328613"/>
            <a:ext cx="1526530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116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RELEVANCE</a:t>
            </a:r>
            <a:endParaRPr lang="en-US" sz="800" dirty="0"/>
          </a:p>
        </p:txBody>
      </p:sp>
      <p:sp>
        <p:nvSpPr>
          <p:cNvPr id="12" name="Text 6"/>
          <p:cNvSpPr/>
          <p:nvPr/>
        </p:nvSpPr>
        <p:spPr>
          <a:xfrm>
            <a:off x="457200" y="651867"/>
            <a:ext cx="8636000" cy="405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3"/>
              </a:lnSpc>
              <a:buNone/>
            </a:pPr>
            <a:r>
              <a:rPr lang="en-US" sz="2813" b="1" spc="28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It's Industry Relevant</a:t>
            </a:r>
            <a:endParaRPr lang="en-US" sz="2813" dirty="0"/>
          </a:p>
        </p:txBody>
      </p:sp>
      <p:sp>
        <p:nvSpPr>
          <p:cNvPr id="13" name="Text 7"/>
          <p:cNvSpPr/>
          <p:nvPr/>
        </p:nvSpPr>
        <p:spPr>
          <a:xfrm>
            <a:off x="457200" y="1098352"/>
            <a:ext cx="82296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spc="17" kern="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Hive Mind mirrors how modern AI systems are really built and used.</a:t>
            </a:r>
            <a:endParaRPr lang="en-US" sz="844" dirty="0"/>
          </a:p>
        </p:txBody>
      </p:sp>
      <p:sp>
        <p:nvSpPr>
          <p:cNvPr id="14" name="Text 8"/>
          <p:cNvSpPr/>
          <p:nvPr/>
        </p:nvSpPr>
        <p:spPr>
          <a:xfrm>
            <a:off x="457200" y="1444823"/>
            <a:ext cx="4043363" cy="1635026"/>
          </a:xfrm>
          <a:prstGeom prst="roundRect">
            <a:avLst>
              <a:gd name="adj" fmla="val 8156"/>
            </a:avLst>
          </a:prstGeom>
          <a:solidFill>
            <a:srgbClr val="F1F1F5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9"/>
          <p:cNvSpPr/>
          <p:nvPr/>
        </p:nvSpPr>
        <p:spPr>
          <a:xfrm>
            <a:off x="457200" y="1448395"/>
            <a:ext cx="4043363" cy="0"/>
          </a:xfrm>
          <a:prstGeom prst="line">
            <a:avLst/>
          </a:prstGeom>
          <a:noFill/>
          <a:ln w="7144">
            <a:solidFill>
              <a:srgbClr val="F1F1F5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496991" y="1444823"/>
            <a:ext cx="0" cy="1635026"/>
          </a:xfrm>
          <a:prstGeom prst="line">
            <a:avLst/>
          </a:prstGeom>
          <a:noFill/>
          <a:ln w="7144">
            <a:solidFill>
              <a:srgbClr val="F1F1F5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57200" y="3076277"/>
            <a:ext cx="4043363" cy="0"/>
          </a:xfrm>
          <a:prstGeom prst="line">
            <a:avLst/>
          </a:prstGeom>
          <a:noFill/>
          <a:ln w="7144">
            <a:solidFill>
              <a:srgbClr val="F1F1F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67916" y="1444823"/>
            <a:ext cx="0" cy="1635026"/>
          </a:xfrm>
          <a:prstGeom prst="line">
            <a:avLst/>
          </a:prstGeom>
          <a:noFill/>
          <a:ln w="21431">
            <a:solidFill>
              <a:srgbClr val="C51F3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82228" y="1641277"/>
            <a:ext cx="321469" cy="321469"/>
          </a:xfrm>
          <a:prstGeom prst="roundRect">
            <a:avLst>
              <a:gd name="adj" fmla="val 35556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718661" y="167771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88" dirty="0"/>
          </a:p>
        </p:txBody>
      </p:sp>
      <p:sp>
        <p:nvSpPr>
          <p:cNvPr id="21" name="Text 15"/>
          <p:cNvSpPr/>
          <p:nvPr/>
        </p:nvSpPr>
        <p:spPr>
          <a:xfrm>
            <a:off x="1107281" y="1689497"/>
            <a:ext cx="3186113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spc="12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Cross-Checking</a:t>
            </a:r>
            <a:endParaRPr lang="en-US" sz="1181" dirty="0"/>
          </a:p>
        </p:txBody>
      </p:sp>
      <p:sp>
        <p:nvSpPr>
          <p:cNvPr id="22" name="Text 16"/>
          <p:cNvSpPr/>
          <p:nvPr/>
        </p:nvSpPr>
        <p:spPr>
          <a:xfrm>
            <a:off x="678656" y="2715518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Agreement between AIs builds trust, and disagreement warns you to verify.</a:t>
            </a:r>
            <a:endParaRPr lang="en-US" sz="844" dirty="0"/>
          </a:p>
        </p:txBody>
      </p:sp>
      <p:sp>
        <p:nvSpPr>
          <p:cNvPr id="23" name="Text 17"/>
          <p:cNvSpPr/>
          <p:nvPr/>
        </p:nvSpPr>
        <p:spPr>
          <a:xfrm>
            <a:off x="4643438" y="1444823"/>
            <a:ext cx="4043363" cy="1635026"/>
          </a:xfrm>
          <a:prstGeom prst="roundRect">
            <a:avLst>
              <a:gd name="adj" fmla="val 8156"/>
            </a:avLst>
          </a:prstGeom>
          <a:solidFill>
            <a:srgbClr val="F1F1F5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18"/>
          <p:cNvSpPr/>
          <p:nvPr/>
        </p:nvSpPr>
        <p:spPr>
          <a:xfrm>
            <a:off x="4643438" y="1448395"/>
            <a:ext cx="4043363" cy="0"/>
          </a:xfrm>
          <a:prstGeom prst="line">
            <a:avLst/>
          </a:prstGeom>
          <a:noFill/>
          <a:ln w="7144">
            <a:solidFill>
              <a:srgbClr val="F1F1F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683228" y="1444823"/>
            <a:ext cx="0" cy="1635026"/>
          </a:xfrm>
          <a:prstGeom prst="line">
            <a:avLst/>
          </a:prstGeom>
          <a:noFill/>
          <a:ln w="7144">
            <a:solidFill>
              <a:srgbClr val="F1F1F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43438" y="3076277"/>
            <a:ext cx="4043363" cy="0"/>
          </a:xfrm>
          <a:prstGeom prst="line">
            <a:avLst/>
          </a:prstGeom>
          <a:noFill/>
          <a:ln w="7144">
            <a:solidFill>
              <a:srgbClr val="F1F1F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654153" y="1444823"/>
            <a:ext cx="0" cy="1635026"/>
          </a:xfrm>
          <a:prstGeom prst="line">
            <a:avLst/>
          </a:prstGeom>
          <a:noFill/>
          <a:ln w="21431">
            <a:solidFill>
              <a:srgbClr val="C51F3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868466" y="1641277"/>
            <a:ext cx="321469" cy="321469"/>
          </a:xfrm>
          <a:prstGeom prst="roundRect">
            <a:avLst>
              <a:gd name="adj" fmla="val 35556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4904899" y="167771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1688" dirty="0"/>
          </a:p>
        </p:txBody>
      </p:sp>
      <p:sp>
        <p:nvSpPr>
          <p:cNvPr id="30" name="Text 24"/>
          <p:cNvSpPr/>
          <p:nvPr/>
        </p:nvSpPr>
        <p:spPr>
          <a:xfrm>
            <a:off x="5293519" y="1689497"/>
            <a:ext cx="3186113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spc="12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Reliability</a:t>
            </a:r>
            <a:endParaRPr lang="en-US" sz="1181" dirty="0"/>
          </a:p>
        </p:txBody>
      </p:sp>
      <p:sp>
        <p:nvSpPr>
          <p:cNvPr id="31" name="Text 25"/>
          <p:cNvSpPr/>
          <p:nvPr/>
        </p:nvSpPr>
        <p:spPr>
          <a:xfrm>
            <a:off x="4864894" y="2715518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 one AI fails or hits its limit, the others still answer.</a:t>
            </a:r>
            <a:endParaRPr lang="en-US" sz="844" dirty="0"/>
          </a:p>
        </p:txBody>
      </p:sp>
      <p:sp>
        <p:nvSpPr>
          <p:cNvPr id="32" name="Text 26"/>
          <p:cNvSpPr/>
          <p:nvPr/>
        </p:nvSpPr>
        <p:spPr>
          <a:xfrm>
            <a:off x="457200" y="3222724"/>
            <a:ext cx="4043363" cy="1635026"/>
          </a:xfrm>
          <a:prstGeom prst="roundRect">
            <a:avLst>
              <a:gd name="adj" fmla="val 8156"/>
            </a:avLst>
          </a:prstGeom>
          <a:solidFill>
            <a:srgbClr val="F1F1F5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27"/>
          <p:cNvSpPr/>
          <p:nvPr/>
        </p:nvSpPr>
        <p:spPr>
          <a:xfrm>
            <a:off x="457200" y="3226296"/>
            <a:ext cx="4043363" cy="0"/>
          </a:xfrm>
          <a:prstGeom prst="line">
            <a:avLst/>
          </a:prstGeom>
          <a:noFill/>
          <a:ln w="7144">
            <a:solidFill>
              <a:srgbClr val="F1F1F5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496991" y="3222724"/>
            <a:ext cx="0" cy="1635026"/>
          </a:xfrm>
          <a:prstGeom prst="line">
            <a:avLst/>
          </a:prstGeom>
          <a:noFill/>
          <a:ln w="7144">
            <a:solidFill>
              <a:srgbClr val="F1F1F5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57200" y="4854178"/>
            <a:ext cx="4043363" cy="0"/>
          </a:xfrm>
          <a:prstGeom prst="line">
            <a:avLst/>
          </a:prstGeom>
          <a:noFill/>
          <a:ln w="7144">
            <a:solidFill>
              <a:srgbClr val="F1F1F5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67916" y="3222724"/>
            <a:ext cx="0" cy="1635026"/>
          </a:xfrm>
          <a:prstGeom prst="line">
            <a:avLst/>
          </a:prstGeom>
          <a:noFill/>
          <a:ln w="21431">
            <a:solidFill>
              <a:srgbClr val="C51F32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82228" y="3419177"/>
            <a:ext cx="321469" cy="321469"/>
          </a:xfrm>
          <a:prstGeom prst="roundRect">
            <a:avLst>
              <a:gd name="adj" fmla="val 35556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718661" y="345561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688" dirty="0"/>
          </a:p>
        </p:txBody>
      </p:sp>
      <p:sp>
        <p:nvSpPr>
          <p:cNvPr id="39" name="Text 33"/>
          <p:cNvSpPr/>
          <p:nvPr/>
        </p:nvSpPr>
        <p:spPr>
          <a:xfrm>
            <a:off x="1107281" y="3467398"/>
            <a:ext cx="3186113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spc="12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Neutrality</a:t>
            </a:r>
            <a:endParaRPr lang="en-US" sz="1181" dirty="0"/>
          </a:p>
        </p:txBody>
      </p:sp>
      <p:sp>
        <p:nvSpPr>
          <p:cNvPr id="40" name="Text 34"/>
          <p:cNvSpPr/>
          <p:nvPr/>
        </p:nvSpPr>
        <p:spPr>
          <a:xfrm>
            <a:off x="678656" y="4321969"/>
            <a:ext cx="36147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company's own assistant favours its own model, but the Hive has no favourite.</a:t>
            </a:r>
            <a:endParaRPr lang="en-US" sz="844" dirty="0"/>
          </a:p>
        </p:txBody>
      </p:sp>
      <p:sp>
        <p:nvSpPr>
          <p:cNvPr id="41" name="Text 35"/>
          <p:cNvSpPr/>
          <p:nvPr/>
        </p:nvSpPr>
        <p:spPr>
          <a:xfrm>
            <a:off x="4643438" y="3222724"/>
            <a:ext cx="4043363" cy="1635026"/>
          </a:xfrm>
          <a:prstGeom prst="roundRect">
            <a:avLst>
              <a:gd name="adj" fmla="val 8156"/>
            </a:avLst>
          </a:prstGeom>
          <a:solidFill>
            <a:srgbClr val="F1F1F5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6"/>
          <p:cNvSpPr/>
          <p:nvPr/>
        </p:nvSpPr>
        <p:spPr>
          <a:xfrm>
            <a:off x="4643438" y="3226296"/>
            <a:ext cx="4043363" cy="0"/>
          </a:xfrm>
          <a:prstGeom prst="line">
            <a:avLst/>
          </a:prstGeom>
          <a:noFill/>
          <a:ln w="7144">
            <a:solidFill>
              <a:srgbClr val="F1F1F5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8683228" y="3222724"/>
            <a:ext cx="0" cy="1635026"/>
          </a:xfrm>
          <a:prstGeom prst="line">
            <a:avLst/>
          </a:prstGeom>
          <a:noFill/>
          <a:ln w="7144">
            <a:solidFill>
              <a:srgbClr val="F1F1F5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4643438" y="4854178"/>
            <a:ext cx="4043363" cy="0"/>
          </a:xfrm>
          <a:prstGeom prst="line">
            <a:avLst/>
          </a:prstGeom>
          <a:noFill/>
          <a:ln w="7144">
            <a:solidFill>
              <a:srgbClr val="F1F1F5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4654153" y="3222724"/>
            <a:ext cx="0" cy="1635026"/>
          </a:xfrm>
          <a:prstGeom prst="line">
            <a:avLst/>
          </a:prstGeom>
          <a:noFill/>
          <a:ln w="21431">
            <a:solidFill>
              <a:srgbClr val="7557B7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868466" y="3419177"/>
            <a:ext cx="321469" cy="321469"/>
          </a:xfrm>
          <a:prstGeom prst="roundRect">
            <a:avLst>
              <a:gd name="adj" fmla="val 35556"/>
            </a:avLst>
          </a:prstGeom>
          <a:solidFill>
            <a:srgbClr val="7557B7">
              <a:alpha val="12000"/>
            </a:srgbClr>
          </a:solidFill>
          <a:ln w="7144">
            <a:solidFill>
              <a:srgbClr val="7557B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4904899" y="345561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A58BD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48" name="Text 42"/>
          <p:cNvSpPr/>
          <p:nvPr/>
        </p:nvSpPr>
        <p:spPr>
          <a:xfrm>
            <a:off x="5293519" y="3467398"/>
            <a:ext cx="3186113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spc="12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Practice</a:t>
            </a:r>
            <a:endParaRPr lang="en-US" sz="1181" dirty="0"/>
          </a:p>
        </p:txBody>
      </p:sp>
      <p:sp>
        <p:nvSpPr>
          <p:cNvPr id="49" name="Text 43"/>
          <p:cNvSpPr/>
          <p:nvPr/>
        </p:nvSpPr>
        <p:spPr>
          <a:xfrm>
            <a:off x="4864894" y="4321969"/>
            <a:ext cx="36147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products already route between and combine models, for cost, speed and quality.</a:t>
            </a:r>
            <a:endParaRPr lang="en-US" sz="844" dirty="0"/>
          </a:p>
        </p:txBody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000875" y="571500"/>
            <a:ext cx="1071563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372350" y="857250"/>
            <a:ext cx="1171575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863" y="521494"/>
            <a:ext cx="78581" cy="7858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900863" y="521494"/>
            <a:ext cx="78581" cy="78581"/>
          </a:xfrm>
          <a:prstGeom prst="roundRect">
            <a:avLst>
              <a:gd name="adj" fmla="val 121200386"/>
            </a:avLst>
          </a:prstGeom>
          <a:solidFill>
            <a:srgbClr val="C51F32"/>
          </a:solidFill>
          <a:ln/>
          <a:effectLst>
            <a:outerShdw sx="100000" sy="100000" kx="0" ky="0" algn="bl" rotWithShape="0" blurRad="114300" dist="50800" dir="16200000">
              <a:srgbClr val="C51F32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8486775" y="814388"/>
            <a:ext cx="57150" cy="571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486775" y="814388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4"/>
          <p:cNvSpPr/>
          <p:nvPr/>
        </p:nvSpPr>
        <p:spPr>
          <a:xfrm>
            <a:off x="434340" y="315811"/>
            <a:ext cx="1188274" cy="248845"/>
          </a:xfrm>
          <a:prstGeom prst="roundRect">
            <a:avLst>
              <a:gd name="adj" fmla="val 38273011"/>
            </a:avLst>
          </a:prstGeom>
          <a:solidFill>
            <a:srgbClr val="C51F32">
              <a:alpha val="8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457200" y="328613"/>
            <a:ext cx="114255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116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FUTURE SCOPE</a:t>
            </a:r>
            <a:endParaRPr lang="en-US" sz="800" dirty="0"/>
          </a:p>
        </p:txBody>
      </p:sp>
      <p:sp>
        <p:nvSpPr>
          <p:cNvPr id="12" name="Text 6"/>
          <p:cNvSpPr/>
          <p:nvPr/>
        </p:nvSpPr>
        <p:spPr>
          <a:xfrm>
            <a:off x="457200" y="651867"/>
            <a:ext cx="8636000" cy="405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3"/>
              </a:lnSpc>
              <a:buNone/>
            </a:pPr>
            <a:r>
              <a:rPr lang="en-US" sz="2813" b="1" spc="28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Road Ahead</a:t>
            </a:r>
            <a:endParaRPr lang="en-US" sz="2813" dirty="0"/>
          </a:p>
        </p:txBody>
      </p:sp>
      <p:sp>
        <p:nvSpPr>
          <p:cNvPr id="13" name="Text 7"/>
          <p:cNvSpPr/>
          <p:nvPr/>
        </p:nvSpPr>
        <p:spPr>
          <a:xfrm>
            <a:off x="457200" y="1098352"/>
            <a:ext cx="82296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spc="17" kern="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upgrades that turn the Hive into a bigger, faster, smarter council.</a:t>
            </a:r>
            <a:endParaRPr lang="en-US" sz="844" dirty="0"/>
          </a:p>
        </p:txBody>
      </p:sp>
      <p:sp>
        <p:nvSpPr>
          <p:cNvPr id="14" name="Text 8"/>
          <p:cNvSpPr/>
          <p:nvPr/>
        </p:nvSpPr>
        <p:spPr>
          <a:xfrm>
            <a:off x="457200" y="1797546"/>
            <a:ext cx="36576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35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817959" y="1743968"/>
            <a:ext cx="278606" cy="278606"/>
          </a:xfrm>
          <a:prstGeom prst="roundRect">
            <a:avLst>
              <a:gd name="adj" fmla="val 37607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848499" y="1774507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77" dirty="0"/>
          </a:p>
        </p:txBody>
      </p:sp>
      <p:sp>
        <p:nvSpPr>
          <p:cNvPr id="17" name="Text 11"/>
          <p:cNvSpPr/>
          <p:nvPr/>
        </p:nvSpPr>
        <p:spPr>
          <a:xfrm>
            <a:off x="1228725" y="1792188"/>
            <a:ext cx="233957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More AI models</a:t>
            </a:r>
            <a:endParaRPr lang="en-US" sz="956" dirty="0"/>
          </a:p>
        </p:txBody>
      </p:sp>
      <p:sp>
        <p:nvSpPr>
          <p:cNvPr id="18" name="Text 12"/>
          <p:cNvSpPr/>
          <p:nvPr/>
        </p:nvSpPr>
        <p:spPr>
          <a:xfrm>
            <a:off x="3228975" y="1808262"/>
            <a:ext cx="54578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 ChatGPT, Claude and others with one small function each, so the Hive becomes a bigger council.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457200" y="2119015"/>
            <a:ext cx="8229600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457200" y="2276177"/>
            <a:ext cx="36576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35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17959" y="2222599"/>
            <a:ext cx="278606" cy="278606"/>
          </a:xfrm>
          <a:prstGeom prst="roundRect">
            <a:avLst>
              <a:gd name="adj" fmla="val 37607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848499" y="2253139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477" dirty="0"/>
          </a:p>
        </p:txBody>
      </p:sp>
      <p:sp>
        <p:nvSpPr>
          <p:cNvPr id="23" name="Text 17"/>
          <p:cNvSpPr/>
          <p:nvPr/>
        </p:nvSpPr>
        <p:spPr>
          <a:xfrm>
            <a:off x="1228725" y="2270820"/>
            <a:ext cx="233957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Paid API plans</a:t>
            </a:r>
            <a:endParaRPr lang="en-US" sz="956" dirty="0"/>
          </a:p>
        </p:txBody>
      </p:sp>
      <p:sp>
        <p:nvSpPr>
          <p:cNvPr id="24" name="Text 18"/>
          <p:cNvSpPr/>
          <p:nvPr/>
        </p:nvSpPr>
        <p:spPr>
          <a:xfrm>
            <a:off x="3228975" y="2286893"/>
            <a:ext cx="54578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Move from free tiers to paid ones, so many users can ask at the same time without hitting limits.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457200" y="2597646"/>
            <a:ext cx="8229600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457200" y="2754809"/>
            <a:ext cx="36576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35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17959" y="2701230"/>
            <a:ext cx="278606" cy="278606"/>
          </a:xfrm>
          <a:prstGeom prst="roundRect">
            <a:avLst>
              <a:gd name="adj" fmla="val 37607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848499" y="2731770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77" dirty="0"/>
          </a:p>
        </p:txBody>
      </p:sp>
      <p:sp>
        <p:nvSpPr>
          <p:cNvPr id="29" name="Text 23"/>
          <p:cNvSpPr/>
          <p:nvPr/>
        </p:nvSpPr>
        <p:spPr>
          <a:xfrm>
            <a:off x="1228725" y="2749451"/>
            <a:ext cx="233957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Accounts and history</a:t>
            </a:r>
            <a:endParaRPr lang="en-US" sz="956" dirty="0"/>
          </a:p>
        </p:txBody>
      </p:sp>
      <p:sp>
        <p:nvSpPr>
          <p:cNvPr id="30" name="Text 24"/>
          <p:cNvSpPr/>
          <p:nvPr/>
        </p:nvSpPr>
        <p:spPr>
          <a:xfrm>
            <a:off x="3228975" y="2765524"/>
            <a:ext cx="54578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users sign in, save their past questions and compare how the Hive's answers change.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457200" y="3076277"/>
            <a:ext cx="8229600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57200" y="3233440"/>
            <a:ext cx="36576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35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817959" y="3179862"/>
            <a:ext cx="278606" cy="278606"/>
          </a:xfrm>
          <a:prstGeom prst="roundRect">
            <a:avLst>
              <a:gd name="adj" fmla="val 37607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848499" y="3210401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77" dirty="0"/>
          </a:p>
        </p:txBody>
      </p:sp>
      <p:sp>
        <p:nvSpPr>
          <p:cNvPr id="35" name="Text 29"/>
          <p:cNvSpPr/>
          <p:nvPr/>
        </p:nvSpPr>
        <p:spPr>
          <a:xfrm>
            <a:off x="1228725" y="3228082"/>
            <a:ext cx="233957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database and caching</a:t>
            </a:r>
            <a:endParaRPr lang="en-US" sz="956" dirty="0"/>
          </a:p>
        </p:txBody>
      </p:sp>
      <p:sp>
        <p:nvSpPr>
          <p:cNvPr id="36" name="Text 30"/>
          <p:cNvSpPr/>
          <p:nvPr/>
        </p:nvSpPr>
        <p:spPr>
          <a:xfrm>
            <a:off x="3228975" y="3244155"/>
            <a:ext cx="54578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 popular questions and answers, which saves time and API cost.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457200" y="3554909"/>
            <a:ext cx="8229600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457200" y="3712071"/>
            <a:ext cx="36576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35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817959" y="3658493"/>
            <a:ext cx="278606" cy="278606"/>
          </a:xfrm>
          <a:prstGeom prst="roundRect">
            <a:avLst>
              <a:gd name="adj" fmla="val 37607"/>
            </a:avLst>
          </a:prstGeom>
          <a:solidFill>
            <a:srgbClr val="C51F32">
              <a:alpha val="10000"/>
            </a:srgbClr>
          </a:solidFill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848499" y="3689033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FF35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477" dirty="0"/>
          </a:p>
        </p:txBody>
      </p:sp>
      <p:sp>
        <p:nvSpPr>
          <p:cNvPr id="41" name="Text 35"/>
          <p:cNvSpPr/>
          <p:nvPr/>
        </p:nvSpPr>
        <p:spPr>
          <a:xfrm>
            <a:off x="1228725" y="3706713"/>
            <a:ext cx="202139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Subject-specific councils</a:t>
            </a:r>
            <a:endParaRPr lang="en-US" sz="956" dirty="0"/>
          </a:p>
        </p:txBody>
      </p:sp>
      <p:sp>
        <p:nvSpPr>
          <p:cNvPr id="42" name="Text 36"/>
          <p:cNvSpPr/>
          <p:nvPr/>
        </p:nvSpPr>
        <p:spPr>
          <a:xfrm>
            <a:off x="3228975" y="3722787"/>
            <a:ext cx="54578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council for health information, law or education that uses the models best suited to each field.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457200" y="4033540"/>
            <a:ext cx="8229600" cy="7144"/>
          </a:xfrm>
          <a:prstGeom prst="rect">
            <a:avLst/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457200" y="4190702"/>
            <a:ext cx="36576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35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817959" y="4137124"/>
            <a:ext cx="278606" cy="278606"/>
          </a:xfrm>
          <a:prstGeom prst="roundRect">
            <a:avLst>
              <a:gd name="adj" fmla="val 37607"/>
            </a:avLst>
          </a:prstGeom>
          <a:solidFill>
            <a:srgbClr val="7557B7">
              <a:alpha val="12000"/>
            </a:srgbClr>
          </a:solidFill>
          <a:ln w="7144">
            <a:solidFill>
              <a:srgbClr val="7557B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848499" y="4167664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A58BD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77" dirty="0"/>
          </a:p>
        </p:txBody>
      </p:sp>
      <p:sp>
        <p:nvSpPr>
          <p:cNvPr id="47" name="Text 41"/>
          <p:cNvSpPr/>
          <p:nvPr/>
        </p:nvSpPr>
        <p:spPr>
          <a:xfrm>
            <a:off x="1228725" y="4185345"/>
            <a:ext cx="233957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voting</a:t>
            </a:r>
            <a:endParaRPr lang="en-US" sz="956" dirty="0"/>
          </a:p>
        </p:txBody>
      </p:sp>
      <p:sp>
        <p:nvSpPr>
          <p:cNvPr id="48" name="Text 42"/>
          <p:cNvSpPr/>
          <p:nvPr/>
        </p:nvSpPr>
        <p:spPr>
          <a:xfrm>
            <a:off x="3228975" y="4201418"/>
            <a:ext cx="54578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users vote on the best answer, and use those votes to improve the Hive's scoring.</a:t>
            </a:r>
            <a:endParaRPr lang="en-US" sz="800" dirty="0"/>
          </a:p>
        </p:txBody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38" y="0"/>
            <a:ext cx="4429125" cy="442912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357438" y="0"/>
            <a:ext cx="4429125" cy="4429125"/>
          </a:xfrm>
          <a:prstGeom prst="roundRect">
            <a:avLst>
              <a:gd name="adj" fmla="val 2150323"/>
            </a:avLst>
          </a:prstGeom>
          <a:solidFill>
            <a:srgbClr val="C51F32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2646759" y="289322"/>
            <a:ext cx="3850481" cy="3850481"/>
          </a:xfrm>
          <a:prstGeom prst="roundRect">
            <a:avLst>
              <a:gd name="adj" fmla="val 2473470"/>
            </a:avLst>
          </a:prstGeom>
          <a:noFill/>
          <a:ln w="7144">
            <a:solidFill>
              <a:srgbClr val="FF35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2289572" y="289322"/>
            <a:ext cx="4564856" cy="4564856"/>
          </a:xfrm>
          <a:prstGeom prst="roundRect">
            <a:avLst>
              <a:gd name="adj" fmla="val 2086385"/>
            </a:avLst>
          </a:prstGeom>
          <a:noFill/>
          <a:ln w="7144">
            <a:solidFill>
              <a:srgbClr val="FF35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2075259" y="89297"/>
            <a:ext cx="4993481" cy="4993481"/>
          </a:xfrm>
          <a:prstGeom prst="roundRect">
            <a:avLst>
              <a:gd name="adj" fmla="val 1907296"/>
            </a:avLst>
          </a:prstGeom>
          <a:noFill/>
          <a:ln w="7144">
            <a:solidFill>
              <a:srgbClr val="C51F3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85875"/>
            <a:ext cx="2357438" cy="7144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4575" y="1243013"/>
            <a:ext cx="85725" cy="8572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314575" y="1243013"/>
            <a:ext cx="85725" cy="85725"/>
          </a:xfrm>
          <a:prstGeom prst="roundRect">
            <a:avLst>
              <a:gd name="adj" fmla="val 111100000"/>
            </a:avLst>
          </a:prstGeom>
          <a:solidFill>
            <a:srgbClr val="C51F32"/>
          </a:solidFill>
          <a:ln/>
          <a:effectLst>
            <a:outerShdw sx="100000" sy="100000" kx="0" ky="0" algn="bl" rotWithShape="0" blurRad="114300" dist="50800" dir="16200000">
              <a:srgbClr val="C51F32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000500"/>
            <a:ext cx="1928813" cy="7144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1885950" y="3964781"/>
            <a:ext cx="71438" cy="71438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885950" y="3964781"/>
            <a:ext cx="71438" cy="71438"/>
          </a:xfrm>
          <a:prstGeom prst="roundRect">
            <a:avLst>
              <a:gd name="adj" fmla="val 133319067"/>
            </a:avLst>
          </a:prstGeom>
          <a:solidFill>
            <a:srgbClr val="C51F32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357438"/>
            <a:ext cx="1285875" cy="7144"/>
          </a:xfrm>
          <a:prstGeom prst="rect">
            <a:avLst/>
          </a:prstGeom>
        </p:spPr>
      </p:pic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1257300" y="2328863"/>
            <a:ext cx="57150" cy="5715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1257300" y="2328863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6563" y="1500188"/>
            <a:ext cx="2357438" cy="7144"/>
          </a:xfrm>
          <a:prstGeom prst="rect">
            <a:avLst/>
          </a:prstGeom>
        </p:spPr>
      </p:pic>
      <p:pic>
        <p:nvPicPr>
          <p:cNvPr id="1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3700" y="1457325"/>
            <a:ext cx="85725" cy="85725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6743700" y="1457325"/>
            <a:ext cx="85725" cy="85725"/>
          </a:xfrm>
          <a:prstGeom prst="roundRect">
            <a:avLst>
              <a:gd name="adj" fmla="val 111100000"/>
            </a:avLst>
          </a:prstGeom>
          <a:solidFill>
            <a:srgbClr val="C51F32"/>
          </a:solidFill>
          <a:ln/>
          <a:effectLst>
            <a:outerShdw sx="100000" sy="100000" kx="0" ky="0" algn="bl" rotWithShape="0" blurRad="114300" dist="50800" dir="16200000">
              <a:srgbClr val="C51F32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5188" y="3857625"/>
            <a:ext cx="1928813" cy="7144"/>
          </a:xfrm>
          <a:prstGeom prst="rect">
            <a:avLst/>
          </a:prstGeom>
        </p:spPr>
      </p:pic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13">
            <a:alphaModFix amt="85000"/>
          </a:blip>
          <a:stretch>
            <a:fillRect/>
          </a:stretch>
        </p:blipFill>
        <p:spPr>
          <a:xfrm>
            <a:off x="7172325" y="3821906"/>
            <a:ext cx="71438" cy="71438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7172325" y="3821906"/>
            <a:ext cx="71438" cy="71438"/>
          </a:xfrm>
          <a:prstGeom prst="roundRect">
            <a:avLst>
              <a:gd name="adj" fmla="val 133319067"/>
            </a:avLst>
          </a:prstGeom>
          <a:solidFill>
            <a:srgbClr val="C51F32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58125" y="2643188"/>
            <a:ext cx="1285875" cy="7144"/>
          </a:xfrm>
          <a:prstGeom prst="rect">
            <a:avLst/>
          </a:prstGeom>
        </p:spPr>
      </p:pic>
      <p:pic>
        <p:nvPicPr>
          <p:cNvPr id="25" name="Image 14" descr="preencoded.png">    </p:cNvPr>
          <p:cNvPicPr>
            <a:picLocks noChangeAspect="1"/>
          </p:cNvPicPr>
          <p:nvPr/>
        </p:nvPicPr>
        <p:blipFill>
          <a:blip r:embed="rId15">
            <a:alphaModFix amt="80000"/>
          </a:blip>
          <a:stretch>
            <a:fillRect/>
          </a:stretch>
        </p:blipFill>
        <p:spPr>
          <a:xfrm>
            <a:off x="7815263" y="2614613"/>
            <a:ext cx="57150" cy="57150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>
            <a:off x="7815263" y="2614613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F1F1F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71813" y="0"/>
            <a:ext cx="7144" cy="1000125"/>
          </a:xfrm>
          <a:prstGeom prst="rect">
            <a:avLst/>
          </a:prstGeom>
        </p:spPr>
      </p:pic>
      <p:pic>
        <p:nvPicPr>
          <p:cNvPr id="28" name="Image 16" descr="preencoded.png">    </p:cNvPr>
          <p:cNvPicPr>
            <a:picLocks noChangeAspect="1"/>
          </p:cNvPicPr>
          <p:nvPr/>
        </p:nvPicPr>
        <p:blipFill>
          <a:blip r:embed="rId17">
            <a:alphaModFix amt="85000"/>
          </a:blip>
          <a:stretch>
            <a:fillRect/>
          </a:stretch>
        </p:blipFill>
        <p:spPr>
          <a:xfrm>
            <a:off x="3036094" y="957263"/>
            <a:ext cx="71438" cy="71438"/>
          </a:xfrm>
          <a:prstGeom prst="rect">
            <a:avLst/>
          </a:prstGeom>
        </p:spPr>
      </p:pic>
      <p:sp>
        <p:nvSpPr>
          <p:cNvPr id="29" name="Text 10"/>
          <p:cNvSpPr/>
          <p:nvPr/>
        </p:nvSpPr>
        <p:spPr>
          <a:xfrm>
            <a:off x="3036094" y="957263"/>
            <a:ext cx="71438" cy="71438"/>
          </a:xfrm>
          <a:prstGeom prst="roundRect">
            <a:avLst>
              <a:gd name="adj" fmla="val 133319067"/>
            </a:avLst>
          </a:prstGeom>
          <a:solidFill>
            <a:srgbClr val="C51F32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72188" y="0"/>
            <a:ext cx="7144" cy="857250"/>
          </a:xfrm>
          <a:prstGeom prst="rect">
            <a:avLst/>
          </a:prstGeom>
        </p:spPr>
      </p:pic>
      <p:pic>
        <p:nvPicPr>
          <p:cNvPr id="3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29325" y="814388"/>
            <a:ext cx="78581" cy="78581"/>
          </a:xfrm>
          <a:prstGeom prst="rect">
            <a:avLst/>
          </a:prstGeom>
        </p:spPr>
      </p:pic>
      <p:sp>
        <p:nvSpPr>
          <p:cNvPr id="32" name="Text 11"/>
          <p:cNvSpPr/>
          <p:nvPr/>
        </p:nvSpPr>
        <p:spPr>
          <a:xfrm>
            <a:off x="6029325" y="814388"/>
            <a:ext cx="78581" cy="78581"/>
          </a:xfrm>
          <a:prstGeom prst="roundRect">
            <a:avLst>
              <a:gd name="adj" fmla="val 121200386"/>
            </a:avLst>
          </a:prstGeom>
          <a:solidFill>
            <a:srgbClr val="7557B7"/>
          </a:solidFill>
          <a:ln/>
          <a:effectLst>
            <a:outerShdw sx="100000" sy="100000" kx="0" ky="0" algn="bl" rotWithShape="0" blurRad="114300" dist="50800" dir="16200000">
              <a:srgbClr val="7557B7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14750" y="4143375"/>
            <a:ext cx="7144" cy="1000125"/>
          </a:xfrm>
          <a:prstGeom prst="rect">
            <a:avLst/>
          </a:prstGeom>
        </p:spPr>
      </p:pic>
      <p:pic>
        <p:nvPicPr>
          <p:cNvPr id="34" name="Image 20" descr="preencoded.png">    </p:cNvPr>
          <p:cNvPicPr>
            <a:picLocks noChangeAspect="1"/>
          </p:cNvPicPr>
          <p:nvPr/>
        </p:nvPicPr>
        <p:blipFill>
          <a:blip r:embed="rId21">
            <a:alphaModFix amt="85000"/>
          </a:blip>
          <a:stretch>
            <a:fillRect/>
          </a:stretch>
        </p:blipFill>
        <p:spPr>
          <a:xfrm>
            <a:off x="3679031" y="4100513"/>
            <a:ext cx="71438" cy="71438"/>
          </a:xfrm>
          <a:prstGeom prst="rect">
            <a:avLst/>
          </a:prstGeom>
        </p:spPr>
      </p:pic>
      <p:sp>
        <p:nvSpPr>
          <p:cNvPr id="35" name="Text 12"/>
          <p:cNvSpPr/>
          <p:nvPr/>
        </p:nvSpPr>
        <p:spPr>
          <a:xfrm>
            <a:off x="3679031" y="4100513"/>
            <a:ext cx="71438" cy="71438"/>
          </a:xfrm>
          <a:prstGeom prst="roundRect">
            <a:avLst>
              <a:gd name="adj" fmla="val 133319067"/>
            </a:avLst>
          </a:prstGeom>
          <a:solidFill>
            <a:srgbClr val="C51F32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29250" y="4286250"/>
            <a:ext cx="7144" cy="857250"/>
          </a:xfrm>
          <a:prstGeom prst="rect">
            <a:avLst/>
          </a:prstGeom>
        </p:spPr>
      </p:pic>
      <p:pic>
        <p:nvPicPr>
          <p:cNvPr id="37" name="Image 22" descr="preencoded.png">    </p:cNvPr>
          <p:cNvPicPr>
            <a:picLocks noChangeAspect="1"/>
          </p:cNvPicPr>
          <p:nvPr/>
        </p:nvPicPr>
        <p:blipFill>
          <a:blip r:embed="rId23">
            <a:alphaModFix amt="75000"/>
          </a:blip>
          <a:stretch>
            <a:fillRect/>
          </a:stretch>
        </p:blipFill>
        <p:spPr>
          <a:xfrm>
            <a:off x="5400675" y="4243388"/>
            <a:ext cx="64294" cy="64294"/>
          </a:xfrm>
          <a:prstGeom prst="rect">
            <a:avLst/>
          </a:prstGeom>
        </p:spPr>
      </p:pic>
      <p:sp>
        <p:nvSpPr>
          <p:cNvPr id="38" name="Text 13"/>
          <p:cNvSpPr/>
          <p:nvPr/>
        </p:nvSpPr>
        <p:spPr>
          <a:xfrm>
            <a:off x="5400675" y="4243388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C51F32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0" name="Text 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15"/>
          <p:cNvSpPr/>
          <p:nvPr/>
        </p:nvSpPr>
        <p:spPr>
          <a:xfrm>
            <a:off x="274320" y="1771315"/>
            <a:ext cx="8595248" cy="723907"/>
          </a:xfrm>
          <a:prstGeom prst="rect">
            <a:avLst/>
          </a:prstGeom>
          <a:noFill/>
          <a:ln/>
          <a:effectLst>
            <a:outerShdw sx="100000" sy="100000" kx="0" ky="0" algn="bl" rotWithShape="0" blurRad="476250" dist="50800" dir="16200000">
              <a:srgbClr val="F1F1F5">
                <a:alpha val="22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ctr" indent="0" marL="0">
              <a:lnSpc>
                <a:spcPts val="5279"/>
              </a:lnSpc>
              <a:buNone/>
            </a:pPr>
            <a:r>
              <a:rPr lang="en-US" sz="5175" b="1" spc="52" kern="0" dirty="0">
                <a:solidFill>
                  <a:srgbClr val="F1F1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 the Hive</a:t>
            </a:r>
            <a:pPr algn="ctr" indent="0" marL="0">
              <a:lnSpc>
                <a:spcPts val="5279"/>
              </a:lnSpc>
              <a:buNone/>
            </a:pPr>
            <a:r>
              <a:rPr lang="en-US" sz="5175" b="1" spc="52" kern="0" dirty="0">
                <a:solidFill>
                  <a:srgbClr val="FF35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5175" dirty="0"/>
          </a:p>
        </p:txBody>
      </p:sp>
      <p:sp>
        <p:nvSpPr>
          <p:cNvPr id="42" name="Text 16"/>
          <p:cNvSpPr/>
          <p:nvPr/>
        </p:nvSpPr>
        <p:spPr>
          <a:xfrm>
            <a:off x="2904542" y="2627337"/>
            <a:ext cx="3334917" cy="21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069" spc="21" kern="0" dirty="0">
                <a:solidFill>
                  <a:srgbClr val="F1F1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question. A hive of AIs. One smarter answer.</a:t>
            </a:r>
            <a:endParaRPr lang="en-US" sz="1069" dirty="0"/>
          </a:p>
        </p:txBody>
      </p:sp>
      <p:pic>
        <p:nvPicPr>
          <p:cNvPr id="4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271963" y="3088109"/>
            <a:ext cx="600075" cy="7144"/>
          </a:xfrm>
          <a:prstGeom prst="rect">
            <a:avLst/>
          </a:prstGeom>
        </p:spPr>
      </p:pic>
      <p:sp>
        <p:nvSpPr>
          <p:cNvPr id="44" name="Text 17"/>
          <p:cNvSpPr/>
          <p:nvPr/>
        </p:nvSpPr>
        <p:spPr>
          <a:xfrm>
            <a:off x="3642628" y="3238128"/>
            <a:ext cx="18587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spc="84" kern="0" dirty="0">
                <a:solidFill>
                  <a:srgbClr val="F1F1F5">
                    <a:alpha val="3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 — questions welcome.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2026-10-19T07:34:23Z</dcterms:created>
  <dcterms:modified xsi:type="dcterms:W3CDTF">2026-10-19T07:34:23Z</dcterms:modified>
</cp:coreProperties>
</file>